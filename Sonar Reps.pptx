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Speaker 1. Quick question. How do you count push-ups without a camera, a watch, or touching your phone? You put the phone on the floor and let it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Speaker 1. Right now rep counters make you work for it. Camera ones want you to film yourself. Motion ones count a shake as a rep. Either way you're poking a screen mid-set. So how does ours work? (hand to Speaker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 Speaker 2. Sound. The phone plays three tones most of us can't hear, and listens for the echo off your chest. As you move, the echo's phase turns. Each turn is 0.9 of a centimetre, so one push-up is about 28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Speaker 3. And it really sees depth. This is a real recording: full, half, full, half. That line is the chest, and every half rep got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Speaker 4. So where's the AI? Sound gives us the movement. Then a small model, trained on 55 of our own push-ups, decides: full rep or not. On sets it had never seen it got 54 of 55. A fixed depth line got 53. This rep is why (point at the pulsing dot): it read short on the way down, but the model checks both strokes, so it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 Speaker 4. Overall: 39 of 40 full push-ups counted, 15 of 15 half reps refused, and move the phone, nothing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 Speaker 2. It's not perfect, and we tested that too. A hand waved over it still counts. So do kneeling push-ups. And so far it's one person, one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 Speaker 1. That's why we'd call it invisible AI. No camera, nothing to wear, no chat, no buttons. You never see the model, just a count, or NO 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 Speaker 2. Next: run it all on the phone, add distance so a hand can't fake a chest, and test it on more people. But enough talking. Show them. (hand to Speaker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to about 2:55, Speaker 3 narrates; someone else does the push-ups. Cut to the uncut demo footage; click to reveal each state as it happens. Phone face-up on the floor, press Start, hands off. (5 full reps) Every full one counts. (1 half rep) Half rep: NO REP. (pick up and shake the phone) Move the phone and it stops. That's Sonar Reps. Put your phone down and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6161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66800"/>
            <a:ext cx="8750300" cy="640060"/>
          </a:xfrm>
          <a:prstGeom prst="rect">
            <a:avLst/>
          </a:prstGeom>
          <a:noFill/>
          <a:ln/>
        </p:spPr>
        <p:txBody>
          <a:bodyPr wrap="square" lIns="0" tIns="0" rIns="0" bIns="0" rtlCol="0" anchor="t"/>
          <a:lstStyle>
            <a:lvl1pPr algn="l" indent="0" marL="0">
              <a:lnSpc>
                <a:spcPct val="115000"/>
              </a:lnSpc>
              <a:buNone/>
              <a:defRPr lang="en-US" sz="4800" dirty="0">
                <a:solidFill>
                  <a:srgbClr val="EDECE8"/>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4800" dirty="0"/>
          </a:p>
        </p:txBody>
      </p:sp>
      <p:sp>
        <p:nvSpPr>
          <p:cNvPr id="3" name="Text Placeholder 2"/>
          <p:cNvSpPr/>
          <p:nvPr>
            <p:ph idx="101" type="body"/>
          </p:nvPr>
        </p:nvSpPr>
        <p:spPr>
          <a:xfrm>
            <a:off x="812800" y="2011660"/>
            <a:ext cx="10566400" cy="4033540"/>
          </a:xfrm>
          <a:prstGeom prst="rect">
            <a:avLst/>
          </a:prstGeom>
          <a:noFill/>
          <a:ln/>
        </p:spPr>
        <p:txBody>
          <a:bodyPr wrap="square" lIns="0" tIns="0" rIns="0" bIns="0" rtlCol="0" anchor="t"/>
          <a:lstStyle>
            <a:lvl1pPr algn="l" indent="0" marL="0">
              <a:lnSpc>
                <a:spcPct val="140000"/>
              </a:lnSpc>
              <a:buNone/>
              <a:defRPr lang="en-US" sz="1600" dirty="0">
                <a:solidFill>
                  <a:srgbClr val="EDECE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6161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66800"/>
            <a:ext cx="8750300" cy="640060"/>
          </a:xfrm>
          <a:prstGeom prst="rect">
            <a:avLst/>
          </a:prstGeom>
          <a:noFill/>
          <a:ln/>
        </p:spPr>
        <p:txBody>
          <a:bodyPr wrap="square" lIns="0" tIns="0" rIns="0" bIns="0" rtlCol="0" anchor="t"/>
          <a:lstStyle>
            <a:lvl1pPr algn="l" indent="0" marL="0">
              <a:lnSpc>
                <a:spcPct val="115000"/>
              </a:lnSpc>
              <a:buNone/>
              <a:defRPr lang="en-US" sz="4800" dirty="0">
                <a:solidFill>
                  <a:srgbClr val="EDECE8"/>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4800" dirty="0"/>
          </a:p>
        </p:txBody>
      </p:sp>
      <p:sp>
        <p:nvSpPr>
          <p:cNvPr id="3" name="Text Placeholder 2"/>
          <p:cNvSpPr/>
          <p:nvPr>
            <p:ph idx="101" type="body"/>
          </p:nvPr>
        </p:nvSpPr>
        <p:spPr>
          <a:xfrm>
            <a:off x="812800" y="2011660"/>
            <a:ext cx="10566400" cy="4033540"/>
          </a:xfrm>
          <a:prstGeom prst="rect">
            <a:avLst/>
          </a:prstGeom>
          <a:noFill/>
          <a:ln/>
        </p:spPr>
        <p:txBody>
          <a:bodyPr wrap="square" lIns="0" tIns="0" rIns="0" bIns="0" rtlCol="0" anchor="t"/>
          <a:lstStyle>
            <a:lvl1pPr algn="l" indent="0" marL="0">
              <a:lnSpc>
                <a:spcPct val="140000"/>
              </a:lnSpc>
              <a:buNone/>
              <a:defRPr lang="en-US" sz="1600" dirty="0">
                <a:solidFill>
                  <a:srgbClr val="EDECE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5"/>
        </a:solidFill>
      </p:bgPr>
    </p:bg>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5207000" y="0"/>
            <a:ext cx="6985000" cy="6858000"/>
          </a:xfrm>
          <a:prstGeom prst="rect">
            <a:avLst/>
          </a:prstGeom>
        </p:spPr>
      </p:pic>
      <p:pic>
        <p:nvPicPr>
          <p:cNvPr id="3" name="Image 1" descr="Sonar Reps app during a set: a big rep count of 2, a depth column with the 15 cm target line, and the movement trace">    </p:cNvPr>
          <p:cNvPicPr>
            <a:picLocks noChangeAspect="1"/>
          </p:cNvPicPr>
          <p:nvPr/>
        </p:nvPicPr>
        <p:blipFill>
          <a:blip r:embed="rId2"/>
          <a:srcRect l="1088" r="1088" t="0" b="0"/>
          <a:stretch/>
        </p:blipFill>
        <p:spPr>
          <a:xfrm>
            <a:off x="8242300" y="749300"/>
            <a:ext cx="2413000" cy="5359400"/>
          </a:xfrm>
          <a:prstGeom prst="roundRect">
            <a:avLst>
              <a:gd name="adj" fmla="val 12632"/>
            </a:avLst>
          </a:prstGeom>
          <a:effectLst>
            <a:outerShdw sx="100000" sy="100000" kx="0" ky="0" algn="bl" rotWithShape="0" blurRad="762000" dist="254000" dir="5400000">
              <a:srgbClr val="000000">
                <a:alpha val="55000"/>
              </a:srgbClr>
            </a:outerShdw>
          </a:effectLst>
        </p:spPr>
      </p:pic>
      <p:sp>
        <p:nvSpPr>
          <p:cNvPr id="4" name="Shape 0"/>
          <p:cNvSpPr/>
          <p:nvPr/>
        </p:nvSpPr>
        <p:spPr>
          <a:xfrm>
            <a:off x="8216900" y="723900"/>
            <a:ext cx="2463800" cy="5410200"/>
          </a:xfrm>
          <a:prstGeom prst="roundRect">
            <a:avLst>
              <a:gd name="adj" fmla="val 13402"/>
            </a:avLst>
          </a:prstGeom>
          <a:noFill/>
          <a:ln w="50800">
            <a:solidFill>
              <a:srgbClr val="2B2B29"/>
            </a:solidFill>
            <a:prstDash val="solid"/>
          </a:ln>
        </p:spPr>
      </p:sp>
      <p:sp>
        <p:nvSpPr>
          <p:cNvPr id="5" name="Text 1"/>
          <p:cNvSpPr/>
          <p:nvPr/>
        </p:nvSpPr>
        <p:spPr>
          <a:xfrm>
            <a:off x="812800" y="19050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A3F5"/>
                </a:solidFill>
                <a:latin typeface="DM Sans" pitchFamily="34" charset="0"/>
                <a:ea typeface="DM Sans" pitchFamily="34" charset="-122"/>
                <a:cs typeface="DM Sans" pitchFamily="34" charset="-120"/>
              </a:rPr>
              <a:t>INVISIBLE AI</a:t>
            </a:r>
            <a:endParaRPr lang="en-US" sz="1200" dirty="0"/>
          </a:p>
        </p:txBody>
      </p:sp>
      <p:sp>
        <p:nvSpPr>
          <p:cNvPr id="6" name="Text 2"/>
          <p:cNvSpPr/>
          <p:nvPr>
            <p:ph type="title"/>
          </p:nvPr>
        </p:nvSpPr>
        <p:spPr>
          <a:xfrm>
            <a:off x="762000" y="2159000"/>
            <a:ext cx="7194550" cy="1422400"/>
          </a:xfrm>
          <a:prstGeom prst="rect">
            <a:avLst/>
          </a:prstGeom>
          <a:noFill/>
          <a:ln/>
        </p:spPr>
        <p:txBody>
          <a:bodyPr wrap="square" lIns="0" tIns="0" rIns="0" bIns="0" rtlCol="0" anchor="t">
            <a:normAutofit/>
          </a:bodyPr>
          <a:lstStyle/>
          <a:p>
            <a:pPr algn="l" indent="0" marL="0">
              <a:lnSpc>
                <a:spcPts val="11000"/>
              </a:lnSpc>
              <a:buNone/>
            </a:pPr>
            <a:r>
              <a:rPr lang="en-US" sz="11000" b="1" i="0" spc="500" kern="0" dirty="0">
                <a:solidFill>
                  <a:srgbClr val="EDECE8"/>
                </a:solidFill>
                <a:latin typeface="Barlow Condensed" pitchFamily="34" charset="0"/>
                <a:ea typeface="Barlow Condensed" pitchFamily="34" charset="-122"/>
                <a:cs typeface="Barlow Condensed" pitchFamily="34" charset="-120"/>
              </a:rPr>
              <a:t>SONAR REPS</a:t>
            </a:r>
            <a:endParaRPr lang="en-US" sz="11000" dirty="0"/>
          </a:p>
        </p:txBody>
      </p:sp>
      <p:sp>
        <p:nvSpPr>
          <p:cNvPr id="7" name="Text 3"/>
          <p:cNvSpPr/>
          <p:nvPr/>
        </p:nvSpPr>
        <p:spPr>
          <a:xfrm>
            <a:off x="812800" y="3810000"/>
            <a:ext cx="640969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DECE8"/>
                </a:solidFill>
                <a:latin typeface="DM Sans" pitchFamily="34" charset="0"/>
                <a:ea typeface="DM Sans" pitchFamily="34" charset="-122"/>
                <a:cs typeface="DM Sans" pitchFamily="34" charset="-120"/>
              </a:rPr>
              <a:t>Your phone counts push-ups with sound you cannot hear.</a:t>
            </a:r>
            <a:endParaRPr lang="en-US" sz="2200" dirty="0"/>
          </a:p>
        </p:txBody>
      </p:sp>
      <p:sp>
        <p:nvSpPr>
          <p:cNvPr id="8" name="Text 4"/>
          <p:cNvSpPr/>
          <p:nvPr/>
        </p:nvSpPr>
        <p:spPr>
          <a:xfrm>
            <a:off x="815975" y="4956175"/>
            <a:ext cx="1091902" cy="372070"/>
          </a:xfrm>
          <a:prstGeom prst="roundRect">
            <a:avLst>
              <a:gd name="adj" fmla="val 50000"/>
            </a:avLst>
          </a:prstGeom>
          <a:noFill/>
          <a:ln w="6350">
            <a:solidFill>
              <a:srgbClr val="EDECE8">
                <a:alpha val="25000"/>
              </a:srgbClr>
            </a:solidFill>
            <a:prstDash val="solid"/>
          </a:ln>
        </p:spPr>
        <p:txBody>
          <a:bodyPr wrap="none" lIns="0" tIns="0" rIns="0" bIns="0" rtlCol="0" anchor="ctr">
            <a:normAutofit/>
          </a:bodyPr>
          <a:lstStyle/>
          <a:p>
            <a:pPr algn="ctr" indent="0" marL="0">
              <a:lnSpc>
                <a:spcPts val="1680"/>
              </a:lnSpc>
              <a:buNone/>
            </a:pPr>
            <a:r>
              <a:rPr lang="en-US" sz="1200" dirty="0">
                <a:solidFill>
                  <a:srgbClr val="EDECE8"/>
                </a:solidFill>
                <a:latin typeface="DM Sans" pitchFamily="34" charset="0"/>
                <a:ea typeface="DM Sans" pitchFamily="34" charset="-122"/>
                <a:cs typeface="DM Sans" pitchFamily="34" charset="-120"/>
              </a:rPr>
              <a:t>No camera</a:t>
            </a:r>
            <a:endParaRPr lang="en-US" sz="1200" dirty="0"/>
          </a:p>
        </p:txBody>
      </p:sp>
      <p:sp>
        <p:nvSpPr>
          <p:cNvPr id="9" name="Text 5"/>
          <p:cNvSpPr/>
          <p:nvPr/>
        </p:nvSpPr>
        <p:spPr>
          <a:xfrm>
            <a:off x="2015827" y="4956175"/>
            <a:ext cx="1449040" cy="372070"/>
          </a:xfrm>
          <a:prstGeom prst="roundRect">
            <a:avLst>
              <a:gd name="adj" fmla="val 50000"/>
            </a:avLst>
          </a:prstGeom>
          <a:noFill/>
          <a:ln w="6350">
            <a:solidFill>
              <a:srgbClr val="EDECE8">
                <a:alpha val="25000"/>
              </a:srgbClr>
            </a:solidFill>
            <a:prstDash val="solid"/>
          </a:ln>
        </p:spPr>
        <p:txBody>
          <a:bodyPr wrap="none" lIns="0" tIns="0" rIns="0" bIns="0" rtlCol="0" anchor="ctr">
            <a:normAutofit/>
          </a:bodyPr>
          <a:lstStyle/>
          <a:p>
            <a:pPr algn="ctr" indent="0" marL="0">
              <a:lnSpc>
                <a:spcPts val="1680"/>
              </a:lnSpc>
              <a:buNone/>
            </a:pPr>
            <a:r>
              <a:rPr lang="en-US" sz="1200" dirty="0">
                <a:solidFill>
                  <a:srgbClr val="EDECE8"/>
                </a:solidFill>
                <a:latin typeface="DM Sans" pitchFamily="34" charset="0"/>
                <a:ea typeface="DM Sans" pitchFamily="34" charset="-122"/>
                <a:cs typeface="DM Sans" pitchFamily="34" charset="-120"/>
              </a:rPr>
              <a:t>Nothing to wear</a:t>
            </a:r>
            <a:endParaRPr lang="en-US" sz="1200" dirty="0"/>
          </a:p>
        </p:txBody>
      </p:sp>
      <p:sp>
        <p:nvSpPr>
          <p:cNvPr id="10" name="Text 6"/>
          <p:cNvSpPr/>
          <p:nvPr/>
        </p:nvSpPr>
        <p:spPr>
          <a:xfrm>
            <a:off x="3572818" y="4956175"/>
            <a:ext cx="1966962" cy="372070"/>
          </a:xfrm>
          <a:prstGeom prst="roundRect">
            <a:avLst>
              <a:gd name="adj" fmla="val 50000"/>
            </a:avLst>
          </a:prstGeom>
          <a:noFill/>
          <a:ln w="6350">
            <a:solidFill>
              <a:srgbClr val="EDECE8">
                <a:alpha val="25000"/>
              </a:srgbClr>
            </a:solidFill>
            <a:prstDash val="solid"/>
          </a:ln>
        </p:spPr>
        <p:txBody>
          <a:bodyPr wrap="none" lIns="0" tIns="0" rIns="0" bIns="0" rtlCol="0" anchor="ctr">
            <a:normAutofit/>
          </a:bodyPr>
          <a:lstStyle/>
          <a:p>
            <a:pPr algn="ctr" indent="0" marL="0">
              <a:lnSpc>
                <a:spcPts val="1680"/>
              </a:lnSpc>
              <a:buNone/>
            </a:pPr>
            <a:r>
              <a:rPr lang="en-US" sz="1200" dirty="0">
                <a:solidFill>
                  <a:srgbClr val="EDECE8"/>
                </a:solidFill>
                <a:latin typeface="DM Sans" pitchFamily="34" charset="0"/>
                <a:ea typeface="DM Sans" pitchFamily="34" charset="-122"/>
                <a:cs typeface="DM Sans" pitchFamily="34" charset="-120"/>
              </a:rPr>
              <a:t>Nothing to tap mid-set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CE8"/>
        </a:solidFill>
      </p:bgPr>
    </p:bg>
    <p:spTree>
      <p:nvGrpSpPr>
        <p:cNvPr id="1" name=""/>
        <p:cNvGrpSpPr/>
        <p:nvPr/>
      </p:nvGrpSpPr>
      <p:grpSpPr>
        <a:xfrm>
          <a:off x="0" y="0"/>
          <a:ext cx="0" cy="0"/>
          <a:chOff x="0" y="0"/>
          <a:chExt cx="0" cy="0"/>
        </a:xfrm>
      </p:grpSpPr>
      <p:sp>
        <p:nvSpPr>
          <p:cNvPr id="2" name="Text 0"/>
          <p:cNvSpPr/>
          <p:nvPr/>
        </p:nvSpPr>
        <p:spPr>
          <a:xfrm>
            <a:off x="812800" y="812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33A2E"/>
                </a:solidFill>
                <a:latin typeface="DM Sans" pitchFamily="34" charset="0"/>
                <a:ea typeface="DM Sans" pitchFamily="34" charset="-122"/>
                <a:cs typeface="DM Sans" pitchFamily="34" charset="-120"/>
              </a:rPr>
              <a:t>THE PROBLEM</a:t>
            </a:r>
            <a:endParaRPr lang="en-US" sz="1200" dirty="0"/>
          </a:p>
        </p:txBody>
      </p:sp>
      <p:sp>
        <p:nvSpPr>
          <p:cNvPr id="3" name="Text 1"/>
          <p:cNvSpPr/>
          <p:nvPr>
            <p:ph type="title"/>
          </p:nvPr>
        </p:nvSpPr>
        <p:spPr>
          <a:xfrm>
            <a:off x="812800" y="106680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61615"/>
                </a:solidFill>
                <a:latin typeface="Barlow Condensed" pitchFamily="34" charset="0"/>
                <a:ea typeface="Barlow Condensed" pitchFamily="34" charset="-122"/>
                <a:cs typeface="Barlow Condensed" pitchFamily="34" charset="-120"/>
              </a:rPr>
              <a:t>Rep counters make you manage a screen.</a:t>
            </a:r>
            <a:endParaRPr lang="en-US" sz="4800" dirty="0"/>
          </a:p>
        </p:txBody>
      </p:sp>
      <p:sp>
        <p:nvSpPr>
          <p:cNvPr id="4" name="Shape 2"/>
          <p:cNvSpPr/>
          <p:nvPr/>
        </p:nvSpPr>
        <p:spPr>
          <a:xfrm>
            <a:off x="815975" y="2289175"/>
            <a:ext cx="3276600" cy="2136080"/>
          </a:xfrm>
          <a:prstGeom prst="roundRect">
            <a:avLst>
              <a:gd name="adj" fmla="val 6986"/>
            </a:avLst>
          </a:prstGeom>
          <a:solidFill>
            <a:srgbClr val="F8F7F3"/>
          </a:solidFill>
          <a:ln w="6350">
            <a:solidFill>
              <a:srgbClr val="D6D4CC"/>
            </a:solidFill>
            <a:prstDash val="solid"/>
          </a:ln>
        </p:spPr>
      </p:sp>
      <p:sp>
        <p:nvSpPr>
          <p:cNvPr id="5" name="Text 3"/>
          <p:cNvSpPr/>
          <p:nvPr/>
        </p:nvSpPr>
        <p:spPr>
          <a:xfrm>
            <a:off x="1073150" y="3435350"/>
            <a:ext cx="284511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61615"/>
                </a:solidFill>
                <a:latin typeface="DM Sans" pitchFamily="34" charset="0"/>
                <a:ea typeface="DM Sans" pitchFamily="34" charset="-122"/>
                <a:cs typeface="DM Sans" pitchFamily="34" charset="-120"/>
              </a:rPr>
              <a:t>Camera counters</a:t>
            </a:r>
            <a:endParaRPr lang="en-US" sz="2200" dirty="0"/>
          </a:p>
        </p:txBody>
      </p:sp>
      <p:sp>
        <p:nvSpPr>
          <p:cNvPr id="6" name="Text 4"/>
          <p:cNvSpPr/>
          <p:nvPr/>
        </p:nvSpPr>
        <p:spPr>
          <a:xfrm>
            <a:off x="1073150" y="3883620"/>
            <a:ext cx="284511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936"/>
                </a:solidFill>
                <a:latin typeface="DM Sans" pitchFamily="34" charset="0"/>
                <a:ea typeface="DM Sans" pitchFamily="34" charset="-122"/>
                <a:cs typeface="DM Sans" pitchFamily="34" charset="-120"/>
              </a:rPr>
              <a:t>Film yourself.</a:t>
            </a:r>
            <a:endParaRPr lang="en-US" sz="1600" dirty="0"/>
          </a:p>
        </p:txBody>
      </p:sp>
      <p:sp>
        <p:nvSpPr>
          <p:cNvPr id="7" name="Shape 5"/>
          <p:cNvSpPr/>
          <p:nvPr/>
        </p:nvSpPr>
        <p:spPr>
          <a:xfrm>
            <a:off x="4454525" y="2289175"/>
            <a:ext cx="3276600" cy="2136080"/>
          </a:xfrm>
          <a:prstGeom prst="roundRect">
            <a:avLst>
              <a:gd name="adj" fmla="val 6986"/>
            </a:avLst>
          </a:prstGeom>
          <a:solidFill>
            <a:srgbClr val="F8F7F3"/>
          </a:solidFill>
          <a:ln w="6350">
            <a:solidFill>
              <a:srgbClr val="D6D4CC"/>
            </a:solidFill>
            <a:prstDash val="solid"/>
          </a:ln>
        </p:spPr>
      </p:sp>
      <p:sp>
        <p:nvSpPr>
          <p:cNvPr id="8" name="Text 6"/>
          <p:cNvSpPr/>
          <p:nvPr/>
        </p:nvSpPr>
        <p:spPr>
          <a:xfrm>
            <a:off x="4711700" y="3435350"/>
            <a:ext cx="284511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61615"/>
                </a:solidFill>
                <a:latin typeface="DM Sans" pitchFamily="34" charset="0"/>
                <a:ea typeface="DM Sans" pitchFamily="34" charset="-122"/>
                <a:cs typeface="DM Sans" pitchFamily="34" charset="-120"/>
              </a:rPr>
              <a:t>Motion counters</a:t>
            </a:r>
            <a:endParaRPr lang="en-US" sz="2200" dirty="0"/>
          </a:p>
        </p:txBody>
      </p:sp>
      <p:sp>
        <p:nvSpPr>
          <p:cNvPr id="9" name="Text 7"/>
          <p:cNvSpPr/>
          <p:nvPr/>
        </p:nvSpPr>
        <p:spPr>
          <a:xfrm>
            <a:off x="4711700" y="3883620"/>
            <a:ext cx="284511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936"/>
                </a:solidFill>
                <a:latin typeface="DM Sans" pitchFamily="34" charset="0"/>
                <a:ea typeface="DM Sans" pitchFamily="34" charset="-122"/>
                <a:cs typeface="DM Sans" pitchFamily="34" charset="-120"/>
              </a:rPr>
              <a:t>A shake counts as a rep.</a:t>
            </a:r>
            <a:endParaRPr lang="en-US" sz="1600" dirty="0"/>
          </a:p>
        </p:txBody>
      </p:sp>
      <p:sp>
        <p:nvSpPr>
          <p:cNvPr id="10" name="Shape 8"/>
          <p:cNvSpPr/>
          <p:nvPr/>
        </p:nvSpPr>
        <p:spPr>
          <a:xfrm>
            <a:off x="8093075" y="2289175"/>
            <a:ext cx="3282950" cy="2136080"/>
          </a:xfrm>
          <a:prstGeom prst="roundRect">
            <a:avLst>
              <a:gd name="adj" fmla="val 6986"/>
            </a:avLst>
          </a:prstGeom>
          <a:solidFill>
            <a:srgbClr val="F8F7F3"/>
          </a:solidFill>
          <a:ln w="6350">
            <a:solidFill>
              <a:srgbClr val="D6D4CC"/>
            </a:solidFill>
            <a:prstDash val="solid"/>
          </a:ln>
        </p:spPr>
      </p:sp>
      <p:sp>
        <p:nvSpPr>
          <p:cNvPr id="11" name="Text 9"/>
          <p:cNvSpPr/>
          <p:nvPr/>
        </p:nvSpPr>
        <p:spPr>
          <a:xfrm>
            <a:off x="8350250" y="3435350"/>
            <a:ext cx="285165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61615"/>
                </a:solidFill>
                <a:latin typeface="DM Sans" pitchFamily="34" charset="0"/>
                <a:ea typeface="DM Sans" pitchFamily="34" charset="-122"/>
                <a:cs typeface="DM Sans" pitchFamily="34" charset="-120"/>
              </a:rPr>
              <a:t>Both</a:t>
            </a:r>
            <a:endParaRPr lang="en-US" sz="2200" dirty="0"/>
          </a:p>
        </p:txBody>
      </p:sp>
      <p:sp>
        <p:nvSpPr>
          <p:cNvPr id="12" name="Text 10"/>
          <p:cNvSpPr/>
          <p:nvPr/>
        </p:nvSpPr>
        <p:spPr>
          <a:xfrm>
            <a:off x="8350250" y="3883620"/>
            <a:ext cx="285165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936"/>
                </a:solidFill>
                <a:latin typeface="DM Sans" pitchFamily="34" charset="0"/>
                <a:ea typeface="DM Sans" pitchFamily="34" charset="-122"/>
                <a:cs typeface="DM Sans" pitchFamily="34" charset="-120"/>
              </a:rPr>
              <a:t>A screen to tend mid-set.</a:t>
            </a:r>
            <a:endParaRPr lang="en-US" sz="1600" dirty="0"/>
          </a:p>
        </p:txBody>
      </p:sp>
      <p:pic>
        <p:nvPicPr>
          <p:cNvPr id="13" name="Image 0" descr="web embed">    </p:cNvPr>
          <p:cNvPicPr>
            <a:picLocks noChangeAspect="1"/>
          </p:cNvPicPr>
          <p:nvPr/>
        </p:nvPicPr>
        <p:blipFill>
          <a:blip r:embed="rId1"/>
          <a:srcRect l="0" r="0" t="0" b="0"/>
          <a:stretch/>
        </p:blipFill>
        <p:spPr>
          <a:xfrm>
            <a:off x="1066800" y="2489200"/>
            <a:ext cx="1016000" cy="889000"/>
          </a:xfrm>
          <a:prstGeom prst="rect">
            <a:avLst/>
          </a:prstGeom>
        </p:spPr>
      </p:pic>
      <p:pic>
        <p:nvPicPr>
          <p:cNvPr id="14" name="Image 1" descr="web embed">    </p:cNvPr>
          <p:cNvPicPr>
            <a:picLocks noChangeAspect="1"/>
          </p:cNvPicPr>
          <p:nvPr/>
        </p:nvPicPr>
        <p:blipFill>
          <a:blip r:embed="rId2"/>
          <a:srcRect l="0" r="0" t="0" b="0"/>
          <a:stretch/>
        </p:blipFill>
        <p:spPr>
          <a:xfrm>
            <a:off x="4705350" y="2489200"/>
            <a:ext cx="1016000" cy="889000"/>
          </a:xfrm>
          <a:prstGeom prst="rect">
            <a:avLst/>
          </a:prstGeom>
        </p:spPr>
      </p:pic>
      <p:pic>
        <p:nvPicPr>
          <p:cNvPr id="15" name="Image 2" descr="web embed">    </p:cNvPr>
          <p:cNvPicPr>
            <a:picLocks noChangeAspect="1"/>
          </p:cNvPicPr>
          <p:nvPr/>
        </p:nvPicPr>
        <p:blipFill>
          <a:blip r:embed="rId3"/>
          <a:srcRect l="0" r="0" t="0" b="0"/>
          <a:stretch/>
        </p:blipFill>
        <p:spPr>
          <a:xfrm>
            <a:off x="8343900" y="2489200"/>
            <a:ext cx="1016000" cy="889000"/>
          </a:xfrm>
          <a:prstGeom prst="rect">
            <a:avLst/>
          </a:prstGeom>
        </p:spPr>
      </p:pic>
      <p:sp>
        <p:nvSpPr>
          <p:cNvPr id="16" name="Text 11"/>
          <p:cNvSpPr/>
          <p:nvPr/>
        </p:nvSpPr>
        <p:spPr>
          <a:xfrm>
            <a:off x="812800" y="52070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947C3"/>
                </a:solidFill>
                <a:latin typeface="DM Sans" pitchFamily="34" charset="0"/>
                <a:ea typeface="DM Sans" pitchFamily="34" charset="-122"/>
                <a:cs typeface="DM Sans" pitchFamily="34" charset="-120"/>
              </a:rPr>
              <a:t>What if the phone just listened?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15"/>
        </a:solidFill>
      </p:bgPr>
    </p:bg>
    <p:spTree>
      <p:nvGrpSpPr>
        <p:cNvPr id="1" name=""/>
        <p:cNvGrpSpPr/>
        <p:nvPr/>
      </p:nvGrpSpPr>
      <p:grpSpPr>
        <a:xfrm>
          <a:off x="0" y="0"/>
          <a:ext cx="0" cy="0"/>
          <a:chOff x="0" y="0"/>
          <a:chExt cx="0" cy="0"/>
        </a:xfrm>
      </p:grpSpPr>
      <p:sp>
        <p:nvSpPr>
          <p:cNvPr id="2" name="Text 0"/>
          <p:cNvSpPr/>
          <p:nvPr/>
        </p:nvSpPr>
        <p:spPr>
          <a:xfrm>
            <a:off x="812800" y="812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A3F5"/>
                </a:solidFill>
                <a:latin typeface="DM Sans" pitchFamily="34" charset="0"/>
                <a:ea typeface="DM Sans" pitchFamily="34" charset="-122"/>
                <a:cs typeface="DM Sans" pitchFamily="34" charset="-120"/>
              </a:rPr>
              <a:t>HOW IT WORKS</a:t>
            </a:r>
            <a:endParaRPr lang="en-US" sz="1200" dirty="0"/>
          </a:p>
        </p:txBody>
      </p:sp>
      <p:sp>
        <p:nvSpPr>
          <p:cNvPr id="3" name="Text 1"/>
          <p:cNvSpPr/>
          <p:nvPr>
            <p:ph type="title"/>
          </p:nvPr>
        </p:nvSpPr>
        <p:spPr>
          <a:xfrm>
            <a:off x="812800" y="106680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DECE8"/>
                </a:solidFill>
                <a:latin typeface="Barlow Condensed" pitchFamily="34" charset="0"/>
                <a:ea typeface="Barlow Condensed" pitchFamily="34" charset="-122"/>
                <a:cs typeface="Barlow Condensed" pitchFamily="34" charset="-120"/>
              </a:rPr>
              <a:t>Sound out. Echo back. Chest tracked.</a:t>
            </a:r>
            <a:endParaRPr lang="en-US" sz="4800" dirty="0"/>
          </a:p>
        </p:txBody>
      </p:sp>
      <p:pic>
        <p:nvPicPr>
          <p:cNvPr id="4" name="Image 0" descr="web embed">    </p:cNvPr>
          <p:cNvPicPr>
            <a:picLocks noChangeAspect="1"/>
          </p:cNvPicPr>
          <p:nvPr/>
        </p:nvPicPr>
        <p:blipFill>
          <a:blip r:embed="rId1"/>
          <a:srcRect l="0" r="0" t="0" b="0"/>
          <a:stretch/>
        </p:blipFill>
        <p:spPr>
          <a:xfrm>
            <a:off x="812800" y="1905000"/>
            <a:ext cx="4953000" cy="2349500"/>
          </a:xfrm>
          <a:prstGeom prst="rect">
            <a:avLst/>
          </a:prstGeom>
        </p:spPr>
      </p:pic>
      <p:sp>
        <p:nvSpPr>
          <p:cNvPr id="5" name="Text 2"/>
          <p:cNvSpPr/>
          <p:nvPr/>
        </p:nvSpPr>
        <p:spPr>
          <a:xfrm>
            <a:off x="6223000" y="1905000"/>
            <a:ext cx="5310886"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8FA3F5"/>
                </a:solidFill>
                <a:latin typeface="Barlow Condensed" pitchFamily="34" charset="0"/>
                <a:ea typeface="Barlow Condensed" pitchFamily="34" charset="-122"/>
                <a:cs typeface="Barlow Condensed" pitchFamily="34" charset="-120"/>
              </a:rPr>
              <a:t>18.5 · 19.1 · 19.7 kHz</a:t>
            </a:r>
            <a:endParaRPr lang="en-US" sz="3200" dirty="0"/>
          </a:p>
        </p:txBody>
      </p:sp>
      <p:sp>
        <p:nvSpPr>
          <p:cNvPr id="6" name="Text 3"/>
          <p:cNvSpPr/>
          <p:nvPr/>
        </p:nvSpPr>
        <p:spPr>
          <a:xfrm>
            <a:off x="6223000" y="2357090"/>
            <a:ext cx="5310886"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9B7B1"/>
                </a:solidFill>
                <a:latin typeface="DM Sans" pitchFamily="34" charset="0"/>
                <a:ea typeface="DM Sans" pitchFamily="34" charset="-122"/>
                <a:cs typeface="DM Sans" pitchFamily="34" charset="-120"/>
              </a:rPr>
              <a:t>Three tones, too high to hear</a:t>
            </a:r>
            <a:endParaRPr lang="en-US" sz="1600" dirty="0"/>
          </a:p>
        </p:txBody>
      </p:sp>
      <p:sp>
        <p:nvSpPr>
          <p:cNvPr id="7" name="Text 4"/>
          <p:cNvSpPr/>
          <p:nvPr/>
        </p:nvSpPr>
        <p:spPr>
          <a:xfrm>
            <a:off x="6223000" y="2730500"/>
            <a:ext cx="5310886"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8FA3F5"/>
                </a:solidFill>
                <a:latin typeface="Barlow Condensed" pitchFamily="34" charset="0"/>
                <a:ea typeface="Barlow Condensed" pitchFamily="34" charset="-122"/>
                <a:cs typeface="Barlow Condensed" pitchFamily="34" charset="-120"/>
              </a:rPr>
              <a:t>0.9 cm</a:t>
            </a:r>
            <a:endParaRPr lang="en-US" sz="3200" dirty="0"/>
          </a:p>
        </p:txBody>
      </p:sp>
      <p:sp>
        <p:nvSpPr>
          <p:cNvPr id="8" name="Text 5"/>
          <p:cNvSpPr/>
          <p:nvPr/>
        </p:nvSpPr>
        <p:spPr>
          <a:xfrm>
            <a:off x="6223000" y="3182590"/>
            <a:ext cx="5310886"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9B7B1"/>
                </a:solidFill>
                <a:latin typeface="DM Sans" pitchFamily="34" charset="0"/>
                <a:ea typeface="DM Sans" pitchFamily="34" charset="-122"/>
                <a:cs typeface="DM Sans" pitchFamily="34" charset="-120"/>
              </a:rPr>
              <a:t>of chest movement per turn of echo phase</a:t>
            </a:r>
            <a:endParaRPr lang="en-US" sz="1600" dirty="0"/>
          </a:p>
        </p:txBody>
      </p:sp>
      <p:sp>
        <p:nvSpPr>
          <p:cNvPr id="9" name="Text 6"/>
          <p:cNvSpPr/>
          <p:nvPr/>
        </p:nvSpPr>
        <p:spPr>
          <a:xfrm>
            <a:off x="6223000" y="3556000"/>
            <a:ext cx="5310886"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8FA3F5"/>
                </a:solidFill>
                <a:latin typeface="Barlow Condensed" pitchFamily="34" charset="0"/>
                <a:ea typeface="Barlow Condensed" pitchFamily="34" charset="-122"/>
                <a:cs typeface="Barlow Condensed" pitchFamily="34" charset="-120"/>
              </a:rPr>
              <a:t>About 28 turns</a:t>
            </a:r>
            <a:endParaRPr lang="en-US" sz="3200" dirty="0"/>
          </a:p>
        </p:txBody>
      </p:sp>
      <p:sp>
        <p:nvSpPr>
          <p:cNvPr id="10" name="Text 7"/>
          <p:cNvSpPr/>
          <p:nvPr/>
        </p:nvSpPr>
        <p:spPr>
          <a:xfrm>
            <a:off x="6223000" y="4008090"/>
            <a:ext cx="5310886"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9B7B1"/>
                </a:solidFill>
                <a:latin typeface="DM Sans" pitchFamily="34" charset="0"/>
                <a:ea typeface="DM Sans" pitchFamily="34" charset="-122"/>
                <a:cs typeface="DM Sans" pitchFamily="34" charset="-120"/>
              </a:rPr>
              <a:t>in one push-up</a:t>
            </a:r>
            <a:endParaRPr lang="en-US" sz="1600" dirty="0"/>
          </a:p>
        </p:txBody>
      </p:sp>
      <p:pic>
        <p:nvPicPr>
          <p:cNvPr id="11" name="Image 1" descr="Pipeline: speaker, chest, microphone, phase of the echo, trained judge, count">    </p:cNvPr>
          <p:cNvPicPr>
            <a:picLocks noChangeAspect="1"/>
          </p:cNvPicPr>
          <p:nvPr/>
        </p:nvPicPr>
        <p:blipFill>
          <a:blip r:embed="rId2"/>
          <a:srcRect l="0" r="0" t="-85" b="-85"/>
          <a:stretch/>
        </p:blipFill>
        <p:spPr>
          <a:xfrm>
            <a:off x="1778000" y="4381500"/>
            <a:ext cx="8636000" cy="1606550"/>
          </a:xfrm>
          <a:prstGeom prst="rect">
            <a:avLst/>
          </a:prstGeom>
        </p:spPr>
      </p:pic>
      <p:sp>
        <p:nvSpPr>
          <p:cNvPr id="12"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3"/>
                </a:solidFill>
                <a:latin typeface="DM Sans" pitchFamily="34" charset="0"/>
                <a:ea typeface="DM Sans" pitchFamily="34" charset="-122"/>
                <a:cs typeface="DM Sans" pitchFamily="34" charset="-120"/>
              </a:rPr>
              <a:t>Builds on published phase-tracking work: LLAP; Fu et al. 2018.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615"/>
        </a:solidFill>
      </p:bgPr>
    </p:bg>
    <p:spTree>
      <p:nvGrpSpPr>
        <p:cNvPr id="1" name=""/>
        <p:cNvGrpSpPr/>
        <p:nvPr/>
      </p:nvGrpSpPr>
      <p:grpSpPr>
        <a:xfrm>
          <a:off x="0" y="0"/>
          <a:ext cx="0" cy="0"/>
          <a:chOff x="0" y="0"/>
          <a:chExt cx="0" cy="0"/>
        </a:xfrm>
      </p:grpSpPr>
      <p:sp>
        <p:nvSpPr>
          <p:cNvPr id="2" name="Text 0"/>
          <p:cNvSpPr/>
          <p:nvPr/>
        </p:nvSpPr>
        <p:spPr>
          <a:xfrm>
            <a:off x="812800" y="8128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A3F5"/>
                </a:solidFill>
                <a:latin typeface="DM Sans" pitchFamily="34" charset="0"/>
                <a:ea typeface="DM Sans" pitchFamily="34" charset="-122"/>
                <a:cs typeface="DM Sans" pitchFamily="34" charset="-120"/>
              </a:rPr>
              <a:t>IT SEES DEPTH</a:t>
            </a:r>
            <a:endParaRPr lang="en-US" sz="1200" dirty="0"/>
          </a:p>
        </p:txBody>
      </p:sp>
      <p:sp>
        <p:nvSpPr>
          <p:cNvPr id="3" name="Text 1"/>
          <p:cNvSpPr/>
          <p:nvPr>
            <p:ph type="title"/>
          </p:nvPr>
        </p:nvSpPr>
        <p:spPr>
          <a:xfrm>
            <a:off x="812800" y="1066800"/>
            <a:ext cx="706374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DECE8"/>
                </a:solidFill>
                <a:latin typeface="Barlow Condensed" pitchFamily="34" charset="0"/>
                <a:ea typeface="Barlow Condensed" pitchFamily="34" charset="-122"/>
                <a:cs typeface="Barlow Condensed" pitchFamily="34" charset="-120"/>
              </a:rPr>
              <a:t>Full, half, full, half.</a:t>
            </a:r>
            <a:endParaRPr lang="en-US" sz="4800" dirty="0"/>
          </a:p>
        </p:txBody>
      </p:sp>
      <p:sp>
        <p:nvSpPr>
          <p:cNvPr id="4" name="Text 2"/>
          <p:cNvSpPr/>
          <p:nvPr/>
        </p:nvSpPr>
        <p:spPr>
          <a:xfrm>
            <a:off x="8210550" y="1085850"/>
            <a:ext cx="3162300" cy="434330"/>
          </a:xfrm>
          <a:prstGeom prst="roundRect">
            <a:avLst>
              <a:gd name="adj" fmla="val 50000"/>
            </a:avLst>
          </a:prstGeom>
          <a:solidFill>
            <a:srgbClr val="EE6F63">
              <a:alpha val="14000"/>
            </a:srgbClr>
          </a:solidFill>
          <a:ln w="12700">
            <a:solidFill>
              <a:srgbClr val="EE6F63"/>
            </a:solidFill>
            <a:prstDash val="solid"/>
          </a:ln>
        </p:spPr>
        <p:txBody>
          <a:bodyPr wrap="square" lIns="78635" tIns="31645" rIns="78635" bIns="6245" rtlCol="0" anchor="t">
            <a:normAutofit/>
          </a:bodyPr>
          <a:lstStyle/>
          <a:p>
            <a:pPr algn="ctr" indent="0" marL="0">
              <a:lnSpc>
                <a:spcPts val="1920"/>
              </a:lnSpc>
              <a:buNone/>
            </a:pPr>
            <a:r>
              <a:rPr lang="en-US" sz="1600" b="1" dirty="0">
                <a:solidFill>
                  <a:srgbClr val="EE6F63"/>
                </a:solidFill>
                <a:latin typeface="DM Sans" pitchFamily="34" charset="0"/>
                <a:ea typeface="DM Sans" pitchFamily="34" charset="-122"/>
                <a:cs typeface="DM Sans" pitchFamily="34" charset="-120"/>
              </a:rPr>
              <a:t>Half reps: 5 of 5 refused</a:t>
            </a:r>
            <a:endParaRPr lang="en-US" sz="1600" dirty="0"/>
          </a:p>
        </p:txBody>
      </p:sp>
      <p:sp>
        <p:nvSpPr>
          <p:cNvPr id="5" name="Text 3"/>
          <p:cNvSpPr/>
          <p:nvPr/>
        </p:nvSpPr>
        <p:spPr>
          <a:xfrm>
            <a:off x="8210550" y="1644650"/>
            <a:ext cx="3162300" cy="434330"/>
          </a:xfrm>
          <a:prstGeom prst="roundRect">
            <a:avLst>
              <a:gd name="adj" fmla="val 50000"/>
            </a:avLst>
          </a:prstGeom>
          <a:solidFill>
            <a:srgbClr val="8FA3F5">
              <a:alpha val="14000"/>
            </a:srgbClr>
          </a:solidFill>
          <a:ln w="12700">
            <a:solidFill>
              <a:srgbClr val="8FA3F5"/>
            </a:solidFill>
            <a:prstDash val="solid"/>
          </a:ln>
        </p:spPr>
        <p:txBody>
          <a:bodyPr wrap="square" lIns="78635" tIns="31645" rIns="78635" bIns="6245" rtlCol="0" anchor="t">
            <a:normAutofit/>
          </a:bodyPr>
          <a:lstStyle/>
          <a:p>
            <a:pPr algn="ctr" indent="0" marL="0">
              <a:lnSpc>
                <a:spcPts val="1920"/>
              </a:lnSpc>
              <a:buNone/>
            </a:pPr>
            <a:r>
              <a:rPr lang="en-US" sz="1600" b="1" dirty="0">
                <a:solidFill>
                  <a:srgbClr val="8FA3F5"/>
                </a:solidFill>
                <a:latin typeface="DM Sans" pitchFamily="34" charset="0"/>
                <a:ea typeface="DM Sans" pitchFamily="34" charset="-122"/>
                <a:cs typeface="DM Sans" pitchFamily="34" charset="-120"/>
              </a:rPr>
              <a:t>Full reps: 4 of 5 counted</a:t>
            </a:r>
            <a:endParaRPr lang="en-US" sz="1600" dirty="0"/>
          </a:p>
        </p:txBody>
      </p:sp>
      <p:pic>
        <p:nvPicPr>
          <p:cNvPr id="6" name="Image 0" descr="Chest movement over 20 seconds of alternating full and half push-ups, each marked with what was done and the verdict: REP or NO REP">    </p:cNvPr>
          <p:cNvPicPr>
            <a:picLocks noChangeAspect="1"/>
          </p:cNvPicPr>
          <p:nvPr/>
        </p:nvPicPr>
        <p:blipFill>
          <a:blip r:embed="rId1"/>
          <a:srcRect l="-34" r="-34" t="0" b="0"/>
          <a:stretch/>
        </p:blipFill>
        <p:spPr>
          <a:xfrm>
            <a:off x="812800" y="2260600"/>
            <a:ext cx="10566400" cy="3695700"/>
          </a:xfrm>
          <a:prstGeom prst="rect">
            <a:avLst/>
          </a:prstGeom>
        </p:spPr>
      </p:pic>
      <p:pic>
        <p:nvPicPr>
          <p:cNvPr id="7" name="Image 1" descr="web embed">    </p:cNvPr>
          <p:cNvPicPr>
            <a:picLocks noChangeAspect="1"/>
          </p:cNvPicPr>
          <p:nvPr/>
        </p:nvPicPr>
        <p:blipFill>
          <a:blip r:embed="rId2"/>
          <a:srcRect l="0" r="0" t="0" b="0"/>
          <a:stretch/>
        </p:blipFill>
        <p:spPr>
          <a:xfrm>
            <a:off x="812800" y="2260600"/>
            <a:ext cx="10566400" cy="36957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615"/>
        </a:solidFill>
      </p:bgPr>
    </p:bg>
    <p:spTree>
      <p:nvGrpSpPr>
        <p:cNvPr id="1" name=""/>
        <p:cNvGrpSpPr/>
        <p:nvPr/>
      </p:nvGrpSpPr>
      <p:grpSpPr>
        <a:xfrm>
          <a:off x="0" y="0"/>
          <a:ext cx="0" cy="0"/>
          <a:chOff x="0" y="0"/>
          <a:chExt cx="0" cy="0"/>
        </a:xfrm>
      </p:grpSpPr>
      <p:pic>
        <p:nvPicPr>
          <p:cNvPr id="2" name="Image 0" descr="Scatter of all 55 labelled movements, way down against way back up. Full reps sit top right, half reps bottom left; the trained judge's line separates them, and one full rep at 8.6 cm down and 16 cm up lies left of the old fixed line">    </p:cNvPr>
          <p:cNvPicPr>
            <a:picLocks noChangeAspect="1"/>
          </p:cNvPicPr>
          <p:nvPr/>
        </p:nvPicPr>
        <p:blipFill>
          <a:blip r:embed="rId1"/>
          <a:srcRect l="0" r="0" t="0" b="0"/>
          <a:stretch/>
        </p:blipFill>
        <p:spPr>
          <a:xfrm>
            <a:off x="812800" y="1524000"/>
            <a:ext cx="4699000" cy="4445000"/>
          </a:xfrm>
          <a:prstGeom prst="rect">
            <a:avLst/>
          </a:prstGeom>
        </p:spPr>
      </p:pic>
      <p:pic>
        <p:nvPicPr>
          <p:cNvPr id="3" name="Image 1" descr="web embed">    </p:cNvPr>
          <p:cNvPicPr>
            <a:picLocks noChangeAspect="1"/>
          </p:cNvPicPr>
          <p:nvPr/>
        </p:nvPicPr>
        <p:blipFill>
          <a:blip r:embed="rId2"/>
          <a:srcRect l="0" r="0" t="0" b="0"/>
          <a:stretch/>
        </p:blipFill>
        <p:spPr>
          <a:xfrm>
            <a:off x="2063750" y="3124200"/>
            <a:ext cx="762000" cy="762000"/>
          </a:xfrm>
          <a:prstGeom prst="rect">
            <a:avLst/>
          </a:prstGeom>
        </p:spPr>
      </p:pic>
      <p:sp>
        <p:nvSpPr>
          <p:cNvPr id="4" name="Shape 0"/>
          <p:cNvSpPr/>
          <p:nvPr/>
        </p:nvSpPr>
        <p:spPr>
          <a:xfrm>
            <a:off x="1504950" y="2165350"/>
            <a:ext cx="1333500" cy="772071"/>
          </a:xfrm>
          <a:prstGeom prst="roundRect">
            <a:avLst>
              <a:gd name="adj" fmla="val 9047"/>
            </a:avLst>
          </a:prstGeom>
          <a:solidFill>
            <a:srgbClr val="201F1D"/>
          </a:solidFill>
          <a:ln w="12700">
            <a:solidFill>
              <a:srgbClr val="E2A93B"/>
            </a:solidFill>
            <a:prstDash val="solid"/>
          </a:ln>
        </p:spPr>
      </p:sp>
      <p:sp>
        <p:nvSpPr>
          <p:cNvPr id="5" name="Text 1"/>
          <p:cNvSpPr/>
          <p:nvPr/>
        </p:nvSpPr>
        <p:spPr>
          <a:xfrm>
            <a:off x="1612900" y="2247900"/>
            <a:ext cx="1168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B9993"/>
                </a:solidFill>
                <a:latin typeface="DM Sans" pitchFamily="34" charset="0"/>
                <a:ea typeface="DM Sans" pitchFamily="34" charset="-122"/>
                <a:cs typeface="DM Sans" pitchFamily="34" charset="-120"/>
              </a:rPr>
              <a:t>Line: refused</a:t>
            </a:r>
            <a:endParaRPr lang="en-US" sz="1200" dirty="0"/>
          </a:p>
        </p:txBody>
      </p:sp>
      <p:sp>
        <p:nvSpPr>
          <p:cNvPr id="6" name="Text 2"/>
          <p:cNvSpPr/>
          <p:nvPr/>
        </p:nvSpPr>
        <p:spPr>
          <a:xfrm>
            <a:off x="1612900" y="2458690"/>
            <a:ext cx="11684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8FA3F5"/>
                </a:solidFill>
                <a:latin typeface="DM Sans" pitchFamily="34" charset="0"/>
                <a:ea typeface="DM Sans" pitchFamily="34" charset="-122"/>
                <a:cs typeface="DM Sans" pitchFamily="34" charset="-120"/>
              </a:rPr>
              <a:t>Model: counted</a:t>
            </a:r>
            <a:endParaRPr lang="en-US" sz="1200" dirty="0"/>
          </a:p>
        </p:txBody>
      </p:sp>
      <p:sp>
        <p:nvSpPr>
          <p:cNvPr id="7" name="Text 3"/>
          <p:cNvSpPr/>
          <p:nvPr/>
        </p:nvSpPr>
        <p:spPr>
          <a:xfrm>
            <a:off x="5969000" y="812800"/>
            <a:ext cx="557250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A3F5"/>
                </a:solidFill>
                <a:latin typeface="DM Sans" pitchFamily="34" charset="0"/>
                <a:ea typeface="DM Sans" pitchFamily="34" charset="-122"/>
                <a:cs typeface="DM Sans" pitchFamily="34" charset="-120"/>
              </a:rPr>
              <a:t>WE TRAINED IT</a:t>
            </a:r>
            <a:endParaRPr lang="en-US" sz="1200" dirty="0"/>
          </a:p>
        </p:txBody>
      </p:sp>
      <p:sp>
        <p:nvSpPr>
          <p:cNvPr id="8" name="Text 4"/>
          <p:cNvSpPr/>
          <p:nvPr>
            <p:ph type="title"/>
          </p:nvPr>
        </p:nvSpPr>
        <p:spPr>
          <a:xfrm>
            <a:off x="5969000" y="1066800"/>
            <a:ext cx="5572506"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DECE8"/>
                </a:solidFill>
                <a:latin typeface="Barlow Condensed" pitchFamily="34" charset="0"/>
                <a:ea typeface="Barlow Condensed" pitchFamily="34" charset="-122"/>
                <a:cs typeface="Barlow Condensed" pitchFamily="34" charset="-120"/>
              </a:rPr>
              <a:t>A model we trained judges every rep.</a:t>
            </a:r>
            <a:endParaRPr lang="en-US" sz="4800" dirty="0"/>
          </a:p>
        </p:txBody>
      </p:sp>
      <p:sp>
        <p:nvSpPr>
          <p:cNvPr id="9" name="Text 5"/>
          <p:cNvSpPr/>
          <p:nvPr/>
        </p:nvSpPr>
        <p:spPr>
          <a:xfrm>
            <a:off x="5969000" y="2527300"/>
            <a:ext cx="557250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7B1"/>
                </a:solidFill>
                <a:latin typeface="DM Sans" pitchFamily="34" charset="0"/>
                <a:ea typeface="DM Sans" pitchFamily="34" charset="-122"/>
                <a:cs typeface="DM Sans" pitchFamily="34" charset="-120"/>
              </a:rPr>
              <a:t>55 labelled push-ups. Tested on sets it never saw.</a:t>
            </a:r>
            <a:endParaRPr lang="en-US" sz="1600" dirty="0"/>
          </a:p>
        </p:txBody>
      </p:sp>
      <p:sp>
        <p:nvSpPr>
          <p:cNvPr id="10" name="Text 6"/>
          <p:cNvSpPr/>
          <p:nvPr/>
        </p:nvSpPr>
        <p:spPr>
          <a:xfrm>
            <a:off x="5969000" y="3556000"/>
            <a:ext cx="557250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9B7B1"/>
                </a:solidFill>
                <a:latin typeface="DM Sans" pitchFamily="34" charset="0"/>
                <a:ea typeface="DM Sans" pitchFamily="34" charset="-122"/>
                <a:cs typeface="DM Sans" pitchFamily="34" charset="-120"/>
              </a:rPr>
              <a:t>Fixed depth line</a:t>
            </a:r>
            <a:endParaRPr lang="en-US" sz="1600" dirty="0"/>
          </a:p>
        </p:txBody>
      </p:sp>
      <p:sp>
        <p:nvSpPr>
          <p:cNvPr id="11" name="Shape 7"/>
          <p:cNvSpPr/>
          <p:nvPr/>
        </p:nvSpPr>
        <p:spPr>
          <a:xfrm>
            <a:off x="5969000" y="3870920"/>
            <a:ext cx="3670300" cy="330200"/>
          </a:xfrm>
          <a:prstGeom prst="roundRect">
            <a:avLst>
              <a:gd name="adj" fmla="val 15385"/>
            </a:avLst>
          </a:prstGeom>
          <a:solidFill>
            <a:srgbClr val="9B9993"/>
          </a:solidFill>
          <a:ln/>
        </p:spPr>
      </p:sp>
      <p:sp>
        <p:nvSpPr>
          <p:cNvPr id="12" name="Text 8"/>
          <p:cNvSpPr/>
          <p:nvPr/>
        </p:nvSpPr>
        <p:spPr>
          <a:xfrm>
            <a:off x="9791700" y="3896320"/>
            <a:ext cx="949881"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B9B7B1"/>
                </a:solidFill>
                <a:latin typeface="Barlow Condensed" pitchFamily="34" charset="0"/>
                <a:ea typeface="Barlow Condensed" pitchFamily="34" charset="-122"/>
                <a:cs typeface="Barlow Condensed" pitchFamily="34" charset="-120"/>
              </a:rPr>
              <a:t>53 of 55</a:t>
            </a:r>
            <a:endParaRPr lang="en-US" sz="2200" dirty="0"/>
          </a:p>
        </p:txBody>
      </p:sp>
      <p:sp>
        <p:nvSpPr>
          <p:cNvPr id="13" name="Text 9"/>
          <p:cNvSpPr/>
          <p:nvPr/>
        </p:nvSpPr>
        <p:spPr>
          <a:xfrm>
            <a:off x="5969000" y="4445000"/>
            <a:ext cx="5572506"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EDECE8"/>
                </a:solidFill>
                <a:latin typeface="DM Sans" pitchFamily="34" charset="0"/>
                <a:ea typeface="DM Sans" pitchFamily="34" charset="-122"/>
                <a:cs typeface="DM Sans" pitchFamily="34" charset="-120"/>
              </a:rPr>
              <a:t>Trained judge</a:t>
            </a:r>
            <a:endParaRPr lang="en-US" sz="1600" dirty="0"/>
          </a:p>
        </p:txBody>
      </p:sp>
      <p:sp>
        <p:nvSpPr>
          <p:cNvPr id="14" name="Shape 10"/>
          <p:cNvSpPr/>
          <p:nvPr/>
        </p:nvSpPr>
        <p:spPr>
          <a:xfrm>
            <a:off x="5969000" y="4759920"/>
            <a:ext cx="3740150" cy="330200"/>
          </a:xfrm>
          <a:prstGeom prst="roundRect">
            <a:avLst>
              <a:gd name="adj" fmla="val 15385"/>
            </a:avLst>
          </a:prstGeom>
          <a:solidFill>
            <a:srgbClr val="8FA3F5"/>
          </a:solidFill>
          <a:ln/>
        </p:spPr>
      </p:sp>
      <p:sp>
        <p:nvSpPr>
          <p:cNvPr id="15" name="Text 11"/>
          <p:cNvSpPr/>
          <p:nvPr/>
        </p:nvSpPr>
        <p:spPr>
          <a:xfrm>
            <a:off x="9861550" y="4785320"/>
            <a:ext cx="98607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8FA3F5"/>
                </a:solidFill>
                <a:latin typeface="Barlow Condensed" pitchFamily="34" charset="0"/>
                <a:ea typeface="Barlow Condensed" pitchFamily="34" charset="-122"/>
                <a:cs typeface="Barlow Condensed" pitchFamily="34" charset="-120"/>
              </a:rPr>
              <a:t>54 of 55</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615"/>
        </a:solidFill>
      </p:bgPr>
    </p:bg>
    <p:spTree>
      <p:nvGrpSpPr>
        <p:cNvPr id="1" name=""/>
        <p:cNvGrpSpPr/>
        <p:nvPr/>
      </p:nvGrpSpPr>
      <p:grpSpPr>
        <a:xfrm>
          <a:off x="0" y="0"/>
          <a:ext cx="0" cy="0"/>
          <a:chOff x="0" y="0"/>
          <a:chExt cx="0" cy="0"/>
        </a:xfrm>
      </p:grpSpPr>
      <p:sp>
        <p:nvSpPr>
          <p:cNvPr id="2" name="Text 0"/>
          <p:cNvSpPr/>
          <p:nvPr/>
        </p:nvSpPr>
        <p:spPr>
          <a:xfrm>
            <a:off x="812800" y="812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A3F5"/>
                </a:solidFill>
                <a:latin typeface="DM Sans" pitchFamily="34" charset="0"/>
                <a:ea typeface="DM Sans" pitchFamily="34" charset="-122"/>
                <a:cs typeface="DM Sans" pitchFamily="34" charset="-120"/>
              </a:rPr>
              <a:t>RESULTS</a:t>
            </a:r>
            <a:endParaRPr lang="en-US" sz="1200" dirty="0"/>
          </a:p>
        </p:txBody>
      </p:sp>
      <p:sp>
        <p:nvSpPr>
          <p:cNvPr id="3" name="Text 1"/>
          <p:cNvSpPr/>
          <p:nvPr>
            <p:ph type="title"/>
          </p:nvPr>
        </p:nvSpPr>
        <p:spPr>
          <a:xfrm>
            <a:off x="812800" y="106680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DECE8"/>
                </a:solidFill>
                <a:latin typeface="Barlow Condensed" pitchFamily="34" charset="0"/>
                <a:ea typeface="Barlow Condensed" pitchFamily="34" charset="-122"/>
                <a:cs typeface="Barlow Condensed" pitchFamily="34" charset="-120"/>
              </a:rPr>
              <a:t>Tested on sets the model never saw.</a:t>
            </a:r>
            <a:endParaRPr lang="en-US" sz="4800" dirty="0"/>
          </a:p>
        </p:txBody>
      </p:sp>
      <p:sp>
        <p:nvSpPr>
          <p:cNvPr id="4" name="Text 2"/>
          <p:cNvSpPr/>
          <p:nvPr/>
        </p:nvSpPr>
        <p:spPr>
          <a:xfrm>
            <a:off x="812800" y="1905000"/>
            <a:ext cx="457835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8FA3F5"/>
                </a:solidFill>
                <a:latin typeface="Barlow Condensed" pitchFamily="34" charset="0"/>
                <a:ea typeface="Barlow Condensed" pitchFamily="34" charset="-122"/>
                <a:cs typeface="Barlow Condensed" pitchFamily="34" charset="-120"/>
              </a:rPr>
              <a:t>39 of 40</a:t>
            </a:r>
            <a:endParaRPr lang="en-US" sz="8000" dirty="0"/>
          </a:p>
        </p:txBody>
      </p:sp>
      <p:sp>
        <p:nvSpPr>
          <p:cNvPr id="5" name="Text 3"/>
          <p:cNvSpPr/>
          <p:nvPr/>
        </p:nvSpPr>
        <p:spPr>
          <a:xfrm>
            <a:off x="812800" y="2921000"/>
            <a:ext cx="457835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9B7B1"/>
                </a:solidFill>
                <a:latin typeface="DM Sans" pitchFamily="34" charset="0"/>
                <a:ea typeface="DM Sans" pitchFamily="34" charset="-122"/>
                <a:cs typeface="DM Sans" pitchFamily="34" charset="-120"/>
              </a:rPr>
              <a:t>full push-ups counted</a:t>
            </a:r>
            <a:endParaRPr lang="en-US" sz="1600" dirty="0"/>
          </a:p>
        </p:txBody>
      </p:sp>
      <p:sp>
        <p:nvSpPr>
          <p:cNvPr id="6" name="Text 4"/>
          <p:cNvSpPr/>
          <p:nvPr/>
        </p:nvSpPr>
        <p:spPr>
          <a:xfrm>
            <a:off x="812800" y="3238500"/>
            <a:ext cx="457835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8FA3F5"/>
                </a:solidFill>
                <a:latin typeface="Barlow Condensed" pitchFamily="34" charset="0"/>
                <a:ea typeface="Barlow Condensed" pitchFamily="34" charset="-122"/>
                <a:cs typeface="Barlow Condensed" pitchFamily="34" charset="-120"/>
              </a:rPr>
              <a:t>15 of 15</a:t>
            </a:r>
            <a:endParaRPr lang="en-US" sz="8000" dirty="0"/>
          </a:p>
        </p:txBody>
      </p:sp>
      <p:sp>
        <p:nvSpPr>
          <p:cNvPr id="7" name="Text 5"/>
          <p:cNvSpPr/>
          <p:nvPr/>
        </p:nvSpPr>
        <p:spPr>
          <a:xfrm>
            <a:off x="812800" y="4254500"/>
            <a:ext cx="457835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9B7B1"/>
                </a:solidFill>
                <a:latin typeface="DM Sans" pitchFamily="34" charset="0"/>
                <a:ea typeface="DM Sans" pitchFamily="34" charset="-122"/>
                <a:cs typeface="DM Sans" pitchFamily="34" charset="-120"/>
              </a:rPr>
              <a:t>half reps refused</a:t>
            </a:r>
            <a:endParaRPr lang="en-US" sz="1600" dirty="0"/>
          </a:p>
        </p:txBody>
      </p:sp>
      <p:sp>
        <p:nvSpPr>
          <p:cNvPr id="8" name="Text 6"/>
          <p:cNvSpPr/>
          <p:nvPr/>
        </p:nvSpPr>
        <p:spPr>
          <a:xfrm>
            <a:off x="812800" y="4572000"/>
            <a:ext cx="457835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8FA3F5"/>
                </a:solidFill>
                <a:latin typeface="Barlow Condensed" pitchFamily="34" charset="0"/>
                <a:ea typeface="Barlow Condensed" pitchFamily="34" charset="-122"/>
                <a:cs typeface="Barlow Condensed" pitchFamily="34" charset="-120"/>
              </a:rPr>
              <a:t>0</a:t>
            </a:r>
            <a:endParaRPr lang="en-US" sz="8000" dirty="0"/>
          </a:p>
        </p:txBody>
      </p:sp>
      <p:sp>
        <p:nvSpPr>
          <p:cNvPr id="9" name="Text 7"/>
          <p:cNvSpPr/>
          <p:nvPr/>
        </p:nvSpPr>
        <p:spPr>
          <a:xfrm>
            <a:off x="812800" y="5588000"/>
            <a:ext cx="457835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9B7B1"/>
                </a:solidFill>
                <a:latin typeface="DM Sans" pitchFamily="34" charset="0"/>
                <a:ea typeface="DM Sans" pitchFamily="34" charset="-122"/>
                <a:cs typeface="DM Sans" pitchFamily="34" charset="-120"/>
              </a:rPr>
              <a:t>counted when the phone moved</a:t>
            </a:r>
            <a:endParaRPr lang="en-US" sz="1600" dirty="0"/>
          </a:p>
        </p:txBody>
      </p:sp>
      <p:pic>
        <p:nvPicPr>
          <p:cNvPr id="10" name="Image 0" descr="Every test set, what should count (grey) against what was counted: normal pace 10 of 10, fast 10 of 10, deep 5 of 5, morning set 10 of 10, alternating 4 of 5 full, 10 half reps 0 counted, phone shaken 0 counted">    </p:cNvPr>
          <p:cNvPicPr>
            <a:picLocks noChangeAspect="1"/>
          </p:cNvPicPr>
          <p:nvPr/>
        </p:nvPicPr>
        <p:blipFill>
          <a:blip r:embed="rId1"/>
          <a:srcRect l="-37" r="-37" t="0" b="0"/>
          <a:stretch/>
        </p:blipFill>
        <p:spPr>
          <a:xfrm>
            <a:off x="5588000" y="1905000"/>
            <a:ext cx="5791200" cy="2444750"/>
          </a:xfrm>
          <a:prstGeom prst="rect">
            <a:avLst/>
          </a:prstGeom>
        </p:spPr>
      </p:pic>
      <p:pic>
        <p:nvPicPr>
          <p:cNvPr id="11" name="Image 1" descr="web embed">    </p:cNvPr>
          <p:cNvPicPr>
            <a:picLocks noChangeAspect="1"/>
          </p:cNvPicPr>
          <p:nvPr/>
        </p:nvPicPr>
        <p:blipFill>
          <a:blip r:embed="rId2"/>
          <a:srcRect l="0" r="0" t="0" b="0"/>
          <a:stretch/>
        </p:blipFill>
        <p:spPr>
          <a:xfrm>
            <a:off x="5588000" y="4635500"/>
            <a:ext cx="5791200" cy="133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01F1D"/>
        </a:solidFill>
      </p:bgPr>
    </p:bg>
    <p:spTree>
      <p:nvGrpSpPr>
        <p:cNvPr id="1" name=""/>
        <p:cNvGrpSpPr/>
        <p:nvPr/>
      </p:nvGrpSpPr>
      <p:grpSpPr>
        <a:xfrm>
          <a:off x="0" y="0"/>
          <a:ext cx="0" cy="0"/>
          <a:chOff x="0" y="0"/>
          <a:chExt cx="0" cy="0"/>
        </a:xfrm>
      </p:grpSpPr>
      <p:sp>
        <p:nvSpPr>
          <p:cNvPr id="2" name="Text 0"/>
          <p:cNvSpPr/>
          <p:nvPr/>
        </p:nvSpPr>
        <p:spPr>
          <a:xfrm>
            <a:off x="812800" y="812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E6F63"/>
                </a:solidFill>
                <a:latin typeface="DM Sans" pitchFamily="34" charset="0"/>
                <a:ea typeface="DM Sans" pitchFamily="34" charset="-122"/>
                <a:cs typeface="DM Sans" pitchFamily="34" charset="-120"/>
              </a:rPr>
              <a:t>WHAT IT CANNOT DO YET</a:t>
            </a:r>
            <a:endParaRPr lang="en-US" sz="1200" dirty="0"/>
          </a:p>
        </p:txBody>
      </p:sp>
      <p:sp>
        <p:nvSpPr>
          <p:cNvPr id="3" name="Text 1"/>
          <p:cNvSpPr/>
          <p:nvPr>
            <p:ph type="title"/>
          </p:nvPr>
        </p:nvSpPr>
        <p:spPr>
          <a:xfrm>
            <a:off x="812800" y="106680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DECE8"/>
                </a:solidFill>
                <a:latin typeface="Barlow Condensed" pitchFamily="34" charset="0"/>
                <a:ea typeface="Barlow Condensed" pitchFamily="34" charset="-122"/>
                <a:cs typeface="Barlow Condensed" pitchFamily="34" charset="-120"/>
              </a:rPr>
              <a:t>We measured the failures too.</a:t>
            </a:r>
            <a:endParaRPr lang="en-US" sz="4800" dirty="0"/>
          </a:p>
        </p:txBody>
      </p:sp>
      <p:sp>
        <p:nvSpPr>
          <p:cNvPr id="4" name="Shape 2"/>
          <p:cNvSpPr/>
          <p:nvPr/>
        </p:nvSpPr>
        <p:spPr>
          <a:xfrm>
            <a:off x="812800" y="1905000"/>
            <a:ext cx="10566400" cy="2006600"/>
          </a:xfrm>
          <a:prstGeom prst="roundRect">
            <a:avLst>
              <a:gd name="adj" fmla="val 5063"/>
            </a:avLst>
          </a:prstGeom>
          <a:solidFill>
            <a:srgbClr val="161615"/>
          </a:solidFill>
          <a:ln/>
        </p:spPr>
      </p:sp>
      <p:pic>
        <p:nvPicPr>
          <p:cNvPr id="5" name="Image 0" descr="Failure tests: empty floor for 30 seconds, 1 counted; hand waved over the phone 10 times, 8 counted; 10 kneeling push-ups, 9 counted; none should have counted">    </p:cNvPr>
          <p:cNvPicPr>
            <a:picLocks noChangeAspect="1"/>
          </p:cNvPicPr>
          <p:nvPr/>
        </p:nvPicPr>
        <p:blipFill>
          <a:blip r:embed="rId1"/>
          <a:srcRect l="0" r="0" t="-17" b="-17"/>
          <a:stretch/>
        </p:blipFill>
        <p:spPr>
          <a:xfrm>
            <a:off x="812800" y="1905000"/>
            <a:ext cx="10566400" cy="2006600"/>
          </a:xfrm>
          <a:prstGeom prst="roundRect">
            <a:avLst>
              <a:gd name="adj" fmla="val 5063"/>
            </a:avLst>
          </a:prstGeom>
        </p:spPr>
      </p:pic>
      <p:sp>
        <p:nvSpPr>
          <p:cNvPr id="6" name="Shape 3"/>
          <p:cNvSpPr/>
          <p:nvPr/>
        </p:nvSpPr>
        <p:spPr>
          <a:xfrm>
            <a:off x="812800" y="4254500"/>
            <a:ext cx="5207000" cy="1139130"/>
          </a:xfrm>
          <a:prstGeom prst="roundRect">
            <a:avLst>
              <a:gd name="adj" fmla="val 8919"/>
            </a:avLst>
          </a:prstGeom>
          <a:solidFill>
            <a:srgbClr val="161615"/>
          </a:solidFill>
          <a:ln/>
        </p:spPr>
      </p:sp>
      <p:sp>
        <p:nvSpPr>
          <p:cNvPr id="7" name="Shape 4"/>
          <p:cNvSpPr/>
          <p:nvPr/>
        </p:nvSpPr>
        <p:spPr>
          <a:xfrm>
            <a:off x="812800" y="4254500"/>
            <a:ext cx="5207000" cy="1139130"/>
          </a:xfrm>
          <a:custGeom>
            <a:avLst/>
            <a:gdLst/>
            <a:ahLst/>
            <a:cxnLst/>
            <a:rect l="l" t="t" r="r" b="b"/>
            <a:pathLst>
              <a:path w="5207000" h="1139130">
                <a:moveTo>
                  <a:pt x="101600" y="1139130"/>
                </a:moveTo>
                <a:lnTo>
                  <a:pt x="101600" y="1139130"/>
                </a:lnTo>
                <a:arcTo hR="101600" wR="101600" stAng="5400000" swAng="5400000"/>
                <a:lnTo>
                  <a:pt x="0" y="101600"/>
                </a:lnTo>
                <a:arcTo hR="101600" wR="101600" stAng="10800000" swAng="5400000"/>
                <a:lnTo>
                  <a:pt x="101600" y="0"/>
                </a:lnTo>
                <a:arcTo hR="101600" wR="63500" stAng="16200000" swAng="-5400000"/>
                <a:lnTo>
                  <a:pt x="38100" y="1037530"/>
                </a:lnTo>
                <a:arcTo hR="101600" wR="63500" stAng="10800000" swAng="-5400000"/>
                <a:close/>
              </a:path>
            </a:pathLst>
          </a:custGeom>
          <a:solidFill>
            <a:srgbClr val="EE6F63"/>
          </a:solidFill>
          <a:ln/>
        </p:spPr>
      </p:sp>
      <p:sp>
        <p:nvSpPr>
          <p:cNvPr id="8" name="Text 5"/>
          <p:cNvSpPr/>
          <p:nvPr/>
        </p:nvSpPr>
        <p:spPr>
          <a:xfrm>
            <a:off x="1079500" y="4483100"/>
            <a:ext cx="4853051"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DECE8"/>
                </a:solidFill>
                <a:latin typeface="DM Sans" pitchFamily="34" charset="0"/>
                <a:ea typeface="DM Sans" pitchFamily="34" charset="-122"/>
                <a:cs typeface="DM Sans" pitchFamily="34" charset="-120"/>
              </a:rPr>
              <a:t>A hand can pass for a chest</a:t>
            </a:r>
            <a:endParaRPr lang="en-US" sz="2200" dirty="0"/>
          </a:p>
        </p:txBody>
      </p:sp>
      <p:sp>
        <p:nvSpPr>
          <p:cNvPr id="9" name="Text 6"/>
          <p:cNvSpPr/>
          <p:nvPr/>
        </p:nvSpPr>
        <p:spPr>
          <a:xfrm>
            <a:off x="1079500" y="4880570"/>
            <a:ext cx="485305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7B1"/>
                </a:solidFill>
                <a:latin typeface="DM Sans" pitchFamily="34" charset="0"/>
                <a:ea typeface="DM Sans" pitchFamily="34" charset="-122"/>
                <a:cs typeface="DM Sans" pitchFamily="34" charset="-120"/>
              </a:rPr>
              <a:t>It sees a surface move, not what it is.</a:t>
            </a:r>
            <a:endParaRPr lang="en-US" sz="1600" dirty="0"/>
          </a:p>
        </p:txBody>
      </p:sp>
      <p:sp>
        <p:nvSpPr>
          <p:cNvPr id="10" name="Shape 7"/>
          <p:cNvSpPr/>
          <p:nvPr/>
        </p:nvSpPr>
        <p:spPr>
          <a:xfrm>
            <a:off x="6172200" y="4254500"/>
            <a:ext cx="5207000" cy="1139130"/>
          </a:xfrm>
          <a:prstGeom prst="roundRect">
            <a:avLst>
              <a:gd name="adj" fmla="val 8919"/>
            </a:avLst>
          </a:prstGeom>
          <a:solidFill>
            <a:srgbClr val="161615"/>
          </a:solidFill>
          <a:ln/>
        </p:spPr>
      </p:sp>
      <p:sp>
        <p:nvSpPr>
          <p:cNvPr id="11" name="Shape 8"/>
          <p:cNvSpPr/>
          <p:nvPr/>
        </p:nvSpPr>
        <p:spPr>
          <a:xfrm>
            <a:off x="6172200" y="4254500"/>
            <a:ext cx="5207000" cy="1139130"/>
          </a:xfrm>
          <a:custGeom>
            <a:avLst/>
            <a:gdLst/>
            <a:ahLst/>
            <a:cxnLst/>
            <a:rect l="l" t="t" r="r" b="b"/>
            <a:pathLst>
              <a:path w="5207000" h="1139130">
                <a:moveTo>
                  <a:pt x="101600" y="1139130"/>
                </a:moveTo>
                <a:lnTo>
                  <a:pt x="101600" y="1139130"/>
                </a:lnTo>
                <a:arcTo hR="101600" wR="101600" stAng="5400000" swAng="5400000"/>
                <a:lnTo>
                  <a:pt x="0" y="101600"/>
                </a:lnTo>
                <a:arcTo hR="101600" wR="101600" stAng="10800000" swAng="5400000"/>
                <a:lnTo>
                  <a:pt x="101600" y="0"/>
                </a:lnTo>
                <a:arcTo hR="101600" wR="63500" stAng="16200000" swAng="-5400000"/>
                <a:lnTo>
                  <a:pt x="38100" y="1037530"/>
                </a:lnTo>
                <a:arcTo hR="101600" wR="63500" stAng="10800000" swAng="-5400000"/>
                <a:close/>
              </a:path>
            </a:pathLst>
          </a:custGeom>
          <a:solidFill>
            <a:srgbClr val="E2A93B"/>
          </a:solidFill>
          <a:ln/>
        </p:spPr>
      </p:sp>
      <p:sp>
        <p:nvSpPr>
          <p:cNvPr id="12" name="Text 9"/>
          <p:cNvSpPr/>
          <p:nvPr/>
        </p:nvSpPr>
        <p:spPr>
          <a:xfrm>
            <a:off x="6438900" y="4483100"/>
            <a:ext cx="4853051"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DECE8"/>
                </a:solidFill>
                <a:latin typeface="DM Sans" pitchFamily="34" charset="0"/>
                <a:ea typeface="DM Sans" pitchFamily="34" charset="-122"/>
                <a:cs typeface="DM Sans" pitchFamily="34" charset="-120"/>
              </a:rPr>
              <a:t>One person tested</a:t>
            </a:r>
            <a:endParaRPr lang="en-US" sz="2200" dirty="0"/>
          </a:p>
        </p:txBody>
      </p:sp>
      <p:sp>
        <p:nvSpPr>
          <p:cNvPr id="13" name="Text 10"/>
          <p:cNvSpPr/>
          <p:nvPr/>
        </p:nvSpPr>
        <p:spPr>
          <a:xfrm>
            <a:off x="6438900" y="4880570"/>
            <a:ext cx="485305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7B1"/>
                </a:solidFill>
                <a:latin typeface="DM Sans" pitchFamily="34" charset="0"/>
                <a:ea typeface="DM Sans" pitchFamily="34" charset="-122"/>
                <a:cs typeface="DM Sans" pitchFamily="34" charset="-120"/>
              </a:rPr>
              <a:t>One iPhone, one afternoon.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947C3"/>
        </a:solidFill>
      </p:bgPr>
    </p:bg>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8712200" y="635000"/>
            <a:ext cx="2667000" cy="1905000"/>
          </a:xfrm>
          <a:prstGeom prst="rect">
            <a:avLst/>
          </a:prstGeom>
        </p:spPr>
      </p:pic>
      <p:sp>
        <p:nvSpPr>
          <p:cNvPr id="3" name="Text 0"/>
          <p:cNvSpPr/>
          <p:nvPr/>
        </p:nvSpPr>
        <p:spPr>
          <a:xfrm>
            <a:off x="812800" y="812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D2FF"/>
                </a:solidFill>
                <a:latin typeface="DM Sans" pitchFamily="34" charset="0"/>
                <a:ea typeface="DM Sans" pitchFamily="34" charset="-122"/>
                <a:cs typeface="DM Sans" pitchFamily="34" charset="-120"/>
              </a:rPr>
              <a:t>WHY THIS IS INVISIBLE AI</a:t>
            </a:r>
            <a:endParaRPr lang="en-US" sz="1200" dirty="0"/>
          </a:p>
        </p:txBody>
      </p:sp>
      <p:sp>
        <p:nvSpPr>
          <p:cNvPr id="4" name="Text 1"/>
          <p:cNvSpPr/>
          <p:nvPr>
            <p:ph type="title"/>
          </p:nvPr>
        </p:nvSpPr>
        <p:spPr>
          <a:xfrm>
            <a:off x="812800" y="1066800"/>
            <a:ext cx="7848600"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4F3EF"/>
                </a:solidFill>
                <a:latin typeface="Barlow Condensed" pitchFamily="34" charset="0"/>
                <a:ea typeface="Barlow Condensed" pitchFamily="34" charset="-122"/>
                <a:cs typeface="Barlow Condensed" pitchFamily="34" charset="-120"/>
              </a:rPr>
              <a:t>You never see the model. You see a count, or NO REP.</a:t>
            </a:r>
            <a:endParaRPr lang="en-US" sz="4800" dirty="0"/>
          </a:p>
        </p:txBody>
      </p:sp>
      <p:sp>
        <p:nvSpPr>
          <p:cNvPr id="5" name="Shape 2"/>
          <p:cNvSpPr/>
          <p:nvPr/>
        </p:nvSpPr>
        <p:spPr>
          <a:xfrm>
            <a:off x="812800" y="2994025"/>
            <a:ext cx="3282950" cy="0"/>
          </a:xfrm>
          <a:prstGeom prst="line">
            <a:avLst/>
          </a:prstGeom>
          <a:noFill/>
          <a:ln w="19050">
            <a:solidFill>
              <a:srgbClr val="C9D2FF"/>
            </a:solidFill>
            <a:prstDash val="solid"/>
          </a:ln>
        </p:spPr>
      </p:sp>
      <p:sp>
        <p:nvSpPr>
          <p:cNvPr id="6" name="Text 3"/>
          <p:cNvSpPr/>
          <p:nvPr/>
        </p:nvSpPr>
        <p:spPr>
          <a:xfrm>
            <a:off x="812800" y="3181350"/>
            <a:ext cx="3381439"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C9D2FF"/>
                </a:solidFill>
                <a:latin typeface="Barlow Condensed" pitchFamily="34" charset="0"/>
                <a:ea typeface="Barlow Condensed" pitchFamily="34" charset="-122"/>
                <a:cs typeface="Barlow Condensed" pitchFamily="34" charset="-120"/>
              </a:rPr>
              <a:t>01</a:t>
            </a:r>
            <a:endParaRPr lang="en-US" sz="2200" dirty="0"/>
          </a:p>
        </p:txBody>
      </p:sp>
      <p:sp>
        <p:nvSpPr>
          <p:cNvPr id="7" name="Text 4"/>
          <p:cNvSpPr/>
          <p:nvPr/>
        </p:nvSpPr>
        <p:spPr>
          <a:xfrm>
            <a:off x="812800" y="3562350"/>
            <a:ext cx="3381439"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4F3EF"/>
                </a:solidFill>
                <a:latin typeface="DM Sans" pitchFamily="34" charset="0"/>
                <a:ea typeface="DM Sans" pitchFamily="34" charset="-122"/>
                <a:cs typeface="DM Sans" pitchFamily="34" charset="-120"/>
              </a:rPr>
              <a:t>Invisible sensing</a:t>
            </a:r>
            <a:endParaRPr lang="en-US" sz="2200" dirty="0"/>
          </a:p>
        </p:txBody>
      </p:sp>
      <p:sp>
        <p:nvSpPr>
          <p:cNvPr id="8" name="Text 5"/>
          <p:cNvSpPr/>
          <p:nvPr/>
        </p:nvSpPr>
        <p:spPr>
          <a:xfrm>
            <a:off x="812800" y="3985220"/>
            <a:ext cx="338143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4E8FF"/>
                </a:solidFill>
                <a:latin typeface="DM Sans" pitchFamily="34" charset="0"/>
                <a:ea typeface="DM Sans" pitchFamily="34" charset="-122"/>
                <a:cs typeface="DM Sans" pitchFamily="34" charset="-120"/>
              </a:rPr>
              <a:t>No camera. Nothing to wear.</a:t>
            </a:r>
            <a:endParaRPr lang="en-US" sz="1600" dirty="0"/>
          </a:p>
        </p:txBody>
      </p:sp>
      <p:sp>
        <p:nvSpPr>
          <p:cNvPr id="9" name="Shape 6"/>
          <p:cNvSpPr/>
          <p:nvPr/>
        </p:nvSpPr>
        <p:spPr>
          <a:xfrm>
            <a:off x="4451350" y="2994025"/>
            <a:ext cx="3282950" cy="0"/>
          </a:xfrm>
          <a:prstGeom prst="line">
            <a:avLst/>
          </a:prstGeom>
          <a:noFill/>
          <a:ln w="19050">
            <a:solidFill>
              <a:srgbClr val="C9D2FF"/>
            </a:solidFill>
            <a:prstDash val="solid"/>
          </a:ln>
        </p:spPr>
      </p:sp>
      <p:sp>
        <p:nvSpPr>
          <p:cNvPr id="10" name="Text 7"/>
          <p:cNvSpPr/>
          <p:nvPr/>
        </p:nvSpPr>
        <p:spPr>
          <a:xfrm>
            <a:off x="4451350" y="3181350"/>
            <a:ext cx="3381439"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C9D2FF"/>
                </a:solidFill>
                <a:latin typeface="Barlow Condensed" pitchFamily="34" charset="0"/>
                <a:ea typeface="Barlow Condensed" pitchFamily="34" charset="-122"/>
                <a:cs typeface="Barlow Condensed" pitchFamily="34" charset="-120"/>
              </a:rPr>
              <a:t>02</a:t>
            </a:r>
            <a:endParaRPr lang="en-US" sz="2200" dirty="0"/>
          </a:p>
        </p:txBody>
      </p:sp>
      <p:sp>
        <p:nvSpPr>
          <p:cNvPr id="11" name="Text 8"/>
          <p:cNvSpPr/>
          <p:nvPr/>
        </p:nvSpPr>
        <p:spPr>
          <a:xfrm>
            <a:off x="4451350" y="3562350"/>
            <a:ext cx="3381439"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4F3EF"/>
                </a:solidFill>
                <a:latin typeface="DM Sans" pitchFamily="34" charset="0"/>
                <a:ea typeface="DM Sans" pitchFamily="34" charset="-122"/>
                <a:cs typeface="DM Sans" pitchFamily="34" charset="-120"/>
              </a:rPr>
              <a:t>Invisible interface</a:t>
            </a:r>
            <a:endParaRPr lang="en-US" sz="2200" dirty="0"/>
          </a:p>
        </p:txBody>
      </p:sp>
      <p:sp>
        <p:nvSpPr>
          <p:cNvPr id="12" name="Text 9"/>
          <p:cNvSpPr/>
          <p:nvPr/>
        </p:nvSpPr>
        <p:spPr>
          <a:xfrm>
            <a:off x="4451350" y="3985220"/>
            <a:ext cx="338143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4E8FF"/>
                </a:solidFill>
                <a:latin typeface="DM Sans" pitchFamily="34" charset="0"/>
                <a:ea typeface="DM Sans" pitchFamily="34" charset="-122"/>
                <a:cs typeface="DM Sans" pitchFamily="34" charset="-120"/>
              </a:rPr>
              <a:t>No chat. No buttons mid-set.</a:t>
            </a:r>
            <a:endParaRPr lang="en-US" sz="1600" dirty="0"/>
          </a:p>
        </p:txBody>
      </p:sp>
      <p:sp>
        <p:nvSpPr>
          <p:cNvPr id="13" name="Shape 10"/>
          <p:cNvSpPr/>
          <p:nvPr/>
        </p:nvSpPr>
        <p:spPr>
          <a:xfrm>
            <a:off x="8089900" y="2994025"/>
            <a:ext cx="3289300" cy="0"/>
          </a:xfrm>
          <a:prstGeom prst="line">
            <a:avLst/>
          </a:prstGeom>
          <a:noFill/>
          <a:ln w="19050">
            <a:solidFill>
              <a:srgbClr val="C9D2FF"/>
            </a:solidFill>
            <a:prstDash val="solid"/>
          </a:ln>
        </p:spPr>
      </p:sp>
      <p:sp>
        <p:nvSpPr>
          <p:cNvPr id="14" name="Text 11"/>
          <p:cNvSpPr/>
          <p:nvPr/>
        </p:nvSpPr>
        <p:spPr>
          <a:xfrm>
            <a:off x="8089900" y="3181350"/>
            <a:ext cx="3387979"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C9D2FF"/>
                </a:solidFill>
                <a:latin typeface="Barlow Condensed" pitchFamily="34" charset="0"/>
                <a:ea typeface="Barlow Condensed" pitchFamily="34" charset="-122"/>
                <a:cs typeface="Barlow Condensed" pitchFamily="34" charset="-120"/>
              </a:rPr>
              <a:t>03</a:t>
            </a:r>
            <a:endParaRPr lang="en-US" sz="2200" dirty="0"/>
          </a:p>
        </p:txBody>
      </p:sp>
      <p:sp>
        <p:nvSpPr>
          <p:cNvPr id="15" name="Text 12"/>
          <p:cNvSpPr/>
          <p:nvPr/>
        </p:nvSpPr>
        <p:spPr>
          <a:xfrm>
            <a:off x="8089900" y="3562350"/>
            <a:ext cx="3387979"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4F3EF"/>
                </a:solidFill>
                <a:latin typeface="DM Sans" pitchFamily="34" charset="0"/>
                <a:ea typeface="DM Sans" pitchFamily="34" charset="-122"/>
                <a:cs typeface="DM Sans" pitchFamily="34" charset="-120"/>
              </a:rPr>
              <a:t>Invisible footprint</a:t>
            </a:r>
            <a:endParaRPr lang="en-US" sz="2200" dirty="0"/>
          </a:p>
        </p:txBody>
      </p:sp>
      <p:sp>
        <p:nvSpPr>
          <p:cNvPr id="16" name="Text 13"/>
          <p:cNvSpPr/>
          <p:nvPr/>
        </p:nvSpPr>
        <p:spPr>
          <a:xfrm>
            <a:off x="8089900" y="3985220"/>
            <a:ext cx="338797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4E8FF"/>
                </a:solidFill>
                <a:latin typeface="DM Sans" pitchFamily="34" charset="0"/>
                <a:ea typeface="DM Sans" pitchFamily="34" charset="-122"/>
                <a:cs typeface="DM Sans" pitchFamily="34" charset="-120"/>
              </a:rPr>
              <a:t>No image of you. No speech kept.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615"/>
        </a:solidFill>
      </p:bgPr>
    </p:bg>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0" y="0"/>
            <a:ext cx="5715000" cy="6858000"/>
          </a:xfrm>
          <a:prstGeom prst="rect">
            <a:avLst/>
          </a:prstGeom>
        </p:spPr>
      </p:pic>
      <p:pic>
        <p:nvPicPr>
          <p:cNvPr id="3" name="Image 1" descr="After Stop: set complete, 5 reps, a coach note, 1 no rep, time and depth per movement">    </p:cNvPr>
          <p:cNvPicPr>
            <a:picLocks noChangeAspect="1"/>
          </p:cNvPicPr>
          <p:nvPr/>
        </p:nvPicPr>
        <p:blipFill>
          <a:blip r:embed="rId2"/>
          <a:srcRect l="1194" r="1194" t="0" b="0"/>
          <a:stretch/>
        </p:blipFill>
        <p:spPr>
          <a:xfrm>
            <a:off x="1193800" y="863600"/>
            <a:ext cx="2305050" cy="5130800"/>
          </a:xfrm>
          <a:prstGeom prst="roundRect">
            <a:avLst>
              <a:gd name="adj" fmla="val 12121"/>
            </a:avLst>
          </a:prstGeom>
          <a:effectLst>
            <a:outerShdw sx="100000" sy="100000" kx="0" ky="0" algn="bl" rotWithShape="0" blurRad="762000" dist="254000" dir="5400000">
              <a:srgbClr val="000000">
                <a:alpha val="55000"/>
              </a:srgbClr>
            </a:outerShdw>
          </a:effectLst>
        </p:spPr>
      </p:pic>
      <p:sp>
        <p:nvSpPr>
          <p:cNvPr id="4" name="Shape 0"/>
          <p:cNvSpPr/>
          <p:nvPr/>
        </p:nvSpPr>
        <p:spPr>
          <a:xfrm>
            <a:off x="1168400" y="838200"/>
            <a:ext cx="2355850" cy="5181600"/>
          </a:xfrm>
          <a:prstGeom prst="roundRect">
            <a:avLst>
              <a:gd name="adj" fmla="val 12938"/>
            </a:avLst>
          </a:prstGeom>
          <a:noFill/>
          <a:ln w="50800">
            <a:solidFill>
              <a:srgbClr val="2B2B29"/>
            </a:solidFill>
            <a:prstDash val="solid"/>
          </a:ln>
        </p:spPr>
      </p:sp>
      <p:sp>
        <p:nvSpPr>
          <p:cNvPr id="5" name="Text 1"/>
          <p:cNvSpPr/>
          <p:nvPr/>
        </p:nvSpPr>
        <p:spPr>
          <a:xfrm>
            <a:off x="4445000" y="812800"/>
            <a:ext cx="714222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A3F5"/>
                </a:solidFill>
                <a:latin typeface="DM Sans" pitchFamily="34" charset="0"/>
                <a:ea typeface="DM Sans" pitchFamily="34" charset="-122"/>
                <a:cs typeface="DM Sans" pitchFamily="34" charset="-120"/>
              </a:rPr>
              <a:t>NEXT</a:t>
            </a:r>
            <a:endParaRPr lang="en-US" sz="1200" dirty="0"/>
          </a:p>
        </p:txBody>
      </p:sp>
      <p:sp>
        <p:nvSpPr>
          <p:cNvPr id="6" name="Text 2"/>
          <p:cNvSpPr/>
          <p:nvPr>
            <p:ph type="title"/>
          </p:nvPr>
        </p:nvSpPr>
        <p:spPr>
          <a:xfrm>
            <a:off x="4445000" y="1066800"/>
            <a:ext cx="7142226"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DECE8"/>
                </a:solidFill>
                <a:latin typeface="Barlow Condensed" pitchFamily="34" charset="0"/>
                <a:ea typeface="Barlow Condensed" pitchFamily="34" charset="-122"/>
                <a:cs typeface="Barlow Condensed" pitchFamily="34" charset="-120"/>
              </a:rPr>
              <a:t>Where it goes next.</a:t>
            </a:r>
            <a:endParaRPr lang="en-US" sz="4800" dirty="0"/>
          </a:p>
        </p:txBody>
      </p:sp>
      <p:sp>
        <p:nvSpPr>
          <p:cNvPr id="7" name="Shape 3"/>
          <p:cNvSpPr/>
          <p:nvPr/>
        </p:nvSpPr>
        <p:spPr>
          <a:xfrm>
            <a:off x="4457700" y="2032000"/>
            <a:ext cx="0" cy="643830"/>
          </a:xfrm>
          <a:prstGeom prst="line">
            <a:avLst/>
          </a:prstGeom>
          <a:noFill/>
          <a:ln w="25400">
            <a:solidFill>
              <a:srgbClr val="8FA3F5"/>
            </a:solidFill>
            <a:prstDash val="solid"/>
          </a:ln>
        </p:spPr>
      </p:sp>
      <p:sp>
        <p:nvSpPr>
          <p:cNvPr id="8" name="Text 4"/>
          <p:cNvSpPr/>
          <p:nvPr/>
        </p:nvSpPr>
        <p:spPr>
          <a:xfrm>
            <a:off x="4648200" y="2032000"/>
            <a:ext cx="6932930"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DECE8"/>
                </a:solidFill>
                <a:latin typeface="DM Sans" pitchFamily="34" charset="0"/>
                <a:ea typeface="DM Sans" pitchFamily="34" charset="-122"/>
                <a:cs typeface="DM Sans" pitchFamily="34" charset="-120"/>
              </a:rPr>
              <a:t>Run it all on the phone</a:t>
            </a:r>
            <a:endParaRPr lang="en-US" sz="2200" dirty="0"/>
          </a:p>
        </p:txBody>
      </p:sp>
      <p:sp>
        <p:nvSpPr>
          <p:cNvPr id="9" name="Text 5"/>
          <p:cNvSpPr/>
          <p:nvPr/>
        </p:nvSpPr>
        <p:spPr>
          <a:xfrm>
            <a:off x="4648200" y="2391370"/>
            <a:ext cx="693293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7B1"/>
                </a:solidFill>
                <a:latin typeface="DM Sans" pitchFamily="34" charset="0"/>
                <a:ea typeface="DM Sans" pitchFamily="34" charset="-122"/>
                <a:cs typeface="DM Sans" pitchFamily="34" charset="-120"/>
              </a:rPr>
              <a:t>No laptop needed.</a:t>
            </a:r>
            <a:endParaRPr lang="en-US" sz="1600" dirty="0"/>
          </a:p>
        </p:txBody>
      </p:sp>
      <p:sp>
        <p:nvSpPr>
          <p:cNvPr id="10" name="Shape 6"/>
          <p:cNvSpPr/>
          <p:nvPr/>
        </p:nvSpPr>
        <p:spPr>
          <a:xfrm>
            <a:off x="4457700" y="2984500"/>
            <a:ext cx="0" cy="643830"/>
          </a:xfrm>
          <a:prstGeom prst="line">
            <a:avLst/>
          </a:prstGeom>
          <a:noFill/>
          <a:ln w="25400">
            <a:solidFill>
              <a:srgbClr val="8FA3F5"/>
            </a:solidFill>
            <a:prstDash val="solid"/>
          </a:ln>
        </p:spPr>
      </p:sp>
      <p:sp>
        <p:nvSpPr>
          <p:cNvPr id="11" name="Text 7"/>
          <p:cNvSpPr/>
          <p:nvPr/>
        </p:nvSpPr>
        <p:spPr>
          <a:xfrm>
            <a:off x="4648200" y="2984500"/>
            <a:ext cx="6932930"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DECE8"/>
                </a:solidFill>
                <a:latin typeface="DM Sans" pitchFamily="34" charset="0"/>
                <a:ea typeface="DM Sans" pitchFamily="34" charset="-122"/>
                <a:cs typeface="DM Sans" pitchFamily="34" charset="-120"/>
              </a:rPr>
              <a:t>Add distance</a:t>
            </a:r>
            <a:endParaRPr lang="en-US" sz="2200" dirty="0"/>
          </a:p>
        </p:txBody>
      </p:sp>
      <p:sp>
        <p:nvSpPr>
          <p:cNvPr id="12" name="Text 8"/>
          <p:cNvSpPr/>
          <p:nvPr/>
        </p:nvSpPr>
        <p:spPr>
          <a:xfrm>
            <a:off x="4648200" y="3343870"/>
            <a:ext cx="693293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7B1"/>
                </a:solidFill>
                <a:latin typeface="DM Sans" pitchFamily="34" charset="0"/>
                <a:ea typeface="DM Sans" pitchFamily="34" charset="-122"/>
                <a:cs typeface="DM Sans" pitchFamily="34" charset="-120"/>
              </a:rPr>
              <a:t>So a hand cannot pass for a chest.</a:t>
            </a:r>
            <a:endParaRPr lang="en-US" sz="1600" dirty="0"/>
          </a:p>
        </p:txBody>
      </p:sp>
      <p:sp>
        <p:nvSpPr>
          <p:cNvPr id="13" name="Shape 9"/>
          <p:cNvSpPr/>
          <p:nvPr/>
        </p:nvSpPr>
        <p:spPr>
          <a:xfrm>
            <a:off x="4457700" y="3937000"/>
            <a:ext cx="0" cy="643830"/>
          </a:xfrm>
          <a:prstGeom prst="line">
            <a:avLst/>
          </a:prstGeom>
          <a:noFill/>
          <a:ln w="25400">
            <a:solidFill>
              <a:srgbClr val="8FA3F5"/>
            </a:solidFill>
            <a:prstDash val="solid"/>
          </a:ln>
        </p:spPr>
      </p:sp>
      <p:sp>
        <p:nvSpPr>
          <p:cNvPr id="14" name="Text 10"/>
          <p:cNvSpPr/>
          <p:nvPr/>
        </p:nvSpPr>
        <p:spPr>
          <a:xfrm>
            <a:off x="4648200" y="3937000"/>
            <a:ext cx="6932930"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DECE8"/>
                </a:solidFill>
                <a:latin typeface="DM Sans" pitchFamily="34" charset="0"/>
                <a:ea typeface="DM Sans" pitchFamily="34" charset="-122"/>
                <a:cs typeface="DM Sans" pitchFamily="34" charset="-120"/>
              </a:rPr>
              <a:t>More people, floors, phones</a:t>
            </a:r>
            <a:endParaRPr lang="en-US" sz="2200" dirty="0"/>
          </a:p>
        </p:txBody>
      </p:sp>
      <p:sp>
        <p:nvSpPr>
          <p:cNvPr id="15" name="Text 11"/>
          <p:cNvSpPr/>
          <p:nvPr/>
        </p:nvSpPr>
        <p:spPr>
          <a:xfrm>
            <a:off x="4648200" y="4296370"/>
            <a:ext cx="693293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7B1"/>
                </a:solidFill>
                <a:latin typeface="DM Sans" pitchFamily="34" charset="0"/>
                <a:ea typeface="DM Sans" pitchFamily="34" charset="-122"/>
                <a:cs typeface="DM Sans" pitchFamily="34" charset="-120"/>
              </a:rPr>
              <a:t>More labelled sets, better judge.</a:t>
            </a:r>
            <a:endParaRPr lang="en-US" sz="1600" dirty="0"/>
          </a:p>
        </p:txBody>
      </p:sp>
      <p:sp>
        <p:nvSpPr>
          <p:cNvPr id="16" name="Text 12"/>
          <p:cNvSpPr/>
          <p:nvPr/>
        </p:nvSpPr>
        <p:spPr>
          <a:xfrm>
            <a:off x="4445000" y="5080000"/>
            <a:ext cx="7142226" cy="472430"/>
          </a:xfrm>
          <a:prstGeom prst="rect">
            <a:avLst/>
          </a:prstGeom>
          <a:noFill/>
          <a:ln/>
        </p:spPr>
        <p:txBody>
          <a:bodyPr wrap="square" lIns="0" tIns="0" rIns="0" bIns="0" rtlCol="0" anchor="t">
            <a:normAutofit/>
          </a:bodyPr>
          <a:lstStyle/>
          <a:p>
            <a:pPr algn="l" indent="0" marL="0">
              <a:lnSpc>
                <a:spcPts val="3520"/>
              </a:lnSpc>
              <a:buNone/>
            </a:pPr>
            <a:r>
              <a:rPr lang="en-US" sz="3200" b="1" spc="100" kern="0" dirty="0">
                <a:solidFill>
                  <a:srgbClr val="8FA3F5"/>
                </a:solidFill>
                <a:latin typeface="Barlow Condensed" pitchFamily="34" charset="0"/>
                <a:ea typeface="Barlow Condensed" pitchFamily="34" charset="-122"/>
                <a:cs typeface="Barlow Condensed" pitchFamily="34" charset="-120"/>
              </a:rPr>
              <a:t>PUT YOUR PHONE DOWN. TRAIN.</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615"/>
        </a:solidFill>
      </p:bgPr>
    </p:bg>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A3F5"/>
                </a:solidFill>
                <a:latin typeface="DM Sans" pitchFamily="34" charset="0"/>
                <a:ea typeface="DM Sans" pitchFamily="34" charset="-122"/>
                <a:cs typeface="DM Sans" pitchFamily="34" charset="-120"/>
              </a:rPr>
              <a:t>LIVE DEMO</a:t>
            </a:r>
            <a:endParaRPr lang="en-US" sz="1200" dirty="0"/>
          </a:p>
        </p:txBody>
      </p:sp>
      <p:sp>
        <p:nvSpPr>
          <p:cNvPr id="4" name="Text 1"/>
          <p:cNvSpPr/>
          <p:nvPr>
            <p:ph type="title"/>
          </p:nvPr>
        </p:nvSpPr>
        <p:spPr>
          <a:xfrm>
            <a:off x="812800" y="106680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DECE8"/>
                </a:solidFill>
                <a:latin typeface="Barlow Condensed" pitchFamily="34" charset="0"/>
                <a:ea typeface="Barlow Condensed" pitchFamily="34" charset="-122"/>
                <a:cs typeface="Barlow Condensed" pitchFamily="34" charset="-120"/>
              </a:rPr>
              <a:t>Put it down. Press Start. Train.</a:t>
            </a:r>
            <a:endParaRPr lang="en-US" sz="4800" dirty="0"/>
          </a:p>
        </p:txBody>
      </p:sp>
      <p:sp>
        <p:nvSpPr>
          <p:cNvPr id="5" name="Text 2"/>
          <p:cNvSpPr/>
          <p:nvPr/>
        </p:nvSpPr>
        <p:spPr>
          <a:xfrm>
            <a:off x="1968287" y="1968500"/>
            <a:ext cx="1206877" cy="33273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8FA3F5"/>
                </a:solidFill>
                <a:latin typeface="DM Sans" pitchFamily="34" charset="0"/>
                <a:ea typeface="DM Sans" pitchFamily="34" charset="-122"/>
                <a:cs typeface="DM Sans" pitchFamily="34" charset="-120"/>
              </a:rPr>
              <a:t>Full rep</a:t>
            </a:r>
            <a:endParaRPr lang="en-US" sz="2200" dirty="0"/>
          </a:p>
        </p:txBody>
      </p:sp>
      <p:sp>
        <p:nvSpPr>
          <p:cNvPr id="6" name="Text 3"/>
          <p:cNvSpPr/>
          <p:nvPr/>
        </p:nvSpPr>
        <p:spPr>
          <a:xfrm>
            <a:off x="2265288" y="2377430"/>
            <a:ext cx="612874"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B9B7B1"/>
                </a:solidFill>
                <a:latin typeface="DM Sans" pitchFamily="34" charset="0"/>
                <a:ea typeface="DM Sans" pitchFamily="34" charset="-122"/>
                <a:cs typeface="DM Sans" pitchFamily="34" charset="-120"/>
              </a:rPr>
              <a:t>Counts</a:t>
            </a:r>
            <a:endParaRPr lang="en-US" sz="1200" dirty="0"/>
          </a:p>
        </p:txBody>
      </p:sp>
      <p:pic>
        <p:nvPicPr>
          <p:cNvPr id="7" name="Image 1" descr="App mid-set showing a count of 2">    </p:cNvPr>
          <p:cNvPicPr>
            <a:picLocks noChangeAspect="1"/>
          </p:cNvPicPr>
          <p:nvPr/>
        </p:nvPicPr>
        <p:blipFill>
          <a:blip r:embed="rId2"/>
          <a:srcRect l="1470" r="1470" t="0" b="0"/>
          <a:stretch/>
        </p:blipFill>
        <p:spPr>
          <a:xfrm>
            <a:off x="1879600" y="2715220"/>
            <a:ext cx="1384300" cy="3098800"/>
          </a:xfrm>
          <a:prstGeom prst="roundRect">
            <a:avLst>
              <a:gd name="adj" fmla="val 11927"/>
            </a:avLst>
          </a:prstGeom>
        </p:spPr>
      </p:pic>
      <p:sp>
        <p:nvSpPr>
          <p:cNvPr id="8" name="Shape 4"/>
          <p:cNvSpPr/>
          <p:nvPr/>
        </p:nvSpPr>
        <p:spPr>
          <a:xfrm>
            <a:off x="1860550" y="2696170"/>
            <a:ext cx="1422400" cy="3136900"/>
          </a:xfrm>
          <a:prstGeom prst="roundRect">
            <a:avLst>
              <a:gd name="adj" fmla="val 12946"/>
            </a:avLst>
          </a:prstGeom>
          <a:noFill/>
          <a:ln w="38100">
            <a:solidFill>
              <a:srgbClr val="2B2B29"/>
            </a:solidFill>
            <a:prstDash val="solid"/>
          </a:ln>
        </p:spPr>
      </p:sp>
      <p:sp>
        <p:nvSpPr>
          <p:cNvPr id="9" name="Text 5"/>
          <p:cNvSpPr/>
          <p:nvPr/>
        </p:nvSpPr>
        <p:spPr>
          <a:xfrm>
            <a:off x="5453722" y="1968500"/>
            <a:ext cx="1284506" cy="33273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EE6F63"/>
                </a:solidFill>
                <a:latin typeface="DM Sans" pitchFamily="34" charset="0"/>
                <a:ea typeface="DM Sans" pitchFamily="34" charset="-122"/>
                <a:cs typeface="DM Sans" pitchFamily="34" charset="-120"/>
              </a:rPr>
              <a:t>Half rep</a:t>
            </a:r>
            <a:endParaRPr lang="en-US" sz="2200" dirty="0"/>
          </a:p>
        </p:txBody>
      </p:sp>
      <p:sp>
        <p:nvSpPr>
          <p:cNvPr id="10" name="Text 6"/>
          <p:cNvSpPr/>
          <p:nvPr/>
        </p:nvSpPr>
        <p:spPr>
          <a:xfrm>
            <a:off x="5778698" y="2377430"/>
            <a:ext cx="634603"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B9B7B1"/>
                </a:solidFill>
                <a:latin typeface="DM Sans" pitchFamily="34" charset="0"/>
                <a:ea typeface="DM Sans" pitchFamily="34" charset="-122"/>
                <a:cs typeface="DM Sans" pitchFamily="34" charset="-120"/>
              </a:rPr>
              <a:t>NO REP</a:t>
            </a:r>
            <a:endParaRPr lang="en-US" sz="1200" dirty="0"/>
          </a:p>
        </p:txBody>
      </p:sp>
      <p:pic>
        <p:nvPicPr>
          <p:cNvPr id="11" name="Image 2" descr="Full-screen red NO REP flash: too shallow, 9 cm of 15 cm">    </p:cNvPr>
          <p:cNvPicPr>
            <a:picLocks noChangeAspect="1"/>
          </p:cNvPicPr>
          <p:nvPr/>
        </p:nvPicPr>
        <p:blipFill>
          <a:blip r:embed="rId3"/>
          <a:srcRect l="1470" r="1470" t="0" b="0"/>
          <a:stretch/>
        </p:blipFill>
        <p:spPr>
          <a:xfrm>
            <a:off x="5403850" y="2715220"/>
            <a:ext cx="1384300" cy="3098800"/>
          </a:xfrm>
          <a:prstGeom prst="roundRect">
            <a:avLst>
              <a:gd name="adj" fmla="val 11927"/>
            </a:avLst>
          </a:prstGeom>
        </p:spPr>
      </p:pic>
      <p:sp>
        <p:nvSpPr>
          <p:cNvPr id="12" name="Shape 7"/>
          <p:cNvSpPr/>
          <p:nvPr/>
        </p:nvSpPr>
        <p:spPr>
          <a:xfrm>
            <a:off x="5384800" y="2696170"/>
            <a:ext cx="1422400" cy="3136900"/>
          </a:xfrm>
          <a:prstGeom prst="roundRect">
            <a:avLst>
              <a:gd name="adj" fmla="val 12946"/>
            </a:avLst>
          </a:prstGeom>
          <a:noFill/>
          <a:ln w="38100">
            <a:solidFill>
              <a:srgbClr val="2B2B29"/>
            </a:solidFill>
            <a:prstDash val="solid"/>
          </a:ln>
        </p:spPr>
      </p:sp>
      <p:sp>
        <p:nvSpPr>
          <p:cNvPr id="13" name="Text 8"/>
          <p:cNvSpPr/>
          <p:nvPr/>
        </p:nvSpPr>
        <p:spPr>
          <a:xfrm>
            <a:off x="8509814" y="1968500"/>
            <a:ext cx="2220873" cy="33273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E2A93B"/>
                </a:solidFill>
                <a:latin typeface="DM Sans" pitchFamily="34" charset="0"/>
                <a:ea typeface="DM Sans" pitchFamily="34" charset="-122"/>
                <a:cs typeface="DM Sans" pitchFamily="34" charset="-120"/>
              </a:rPr>
              <a:t>Phone moved</a:t>
            </a:r>
            <a:endParaRPr lang="en-US" sz="2200" dirty="0"/>
          </a:p>
        </p:txBody>
      </p:sp>
      <p:sp>
        <p:nvSpPr>
          <p:cNvPr id="14" name="Text 9"/>
          <p:cNvSpPr/>
          <p:nvPr/>
        </p:nvSpPr>
        <p:spPr>
          <a:xfrm>
            <a:off x="8978210" y="2377430"/>
            <a:ext cx="128403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B9B7B1"/>
                </a:solidFill>
                <a:latin typeface="DM Sans" pitchFamily="34" charset="0"/>
                <a:ea typeface="DM Sans" pitchFamily="34" charset="-122"/>
                <a:cs typeface="DM Sans" pitchFamily="34" charset="-120"/>
              </a:rPr>
              <a:t>Stops counting</a:t>
            </a:r>
            <a:endParaRPr lang="en-US" sz="1200" dirty="0"/>
          </a:p>
        </p:txBody>
      </p:sp>
      <p:pic>
        <p:nvPicPr>
          <p:cNvPr id="15" name="Image 3" descr="App greyed out with the banner: Phone moved. Keep it still.">    </p:cNvPr>
          <p:cNvPicPr>
            <a:picLocks noChangeAspect="1"/>
          </p:cNvPicPr>
          <p:nvPr/>
        </p:nvPicPr>
        <p:blipFill>
          <a:blip r:embed="rId4"/>
          <a:srcRect l="1470" r="1470" t="0" b="0"/>
          <a:stretch/>
        </p:blipFill>
        <p:spPr>
          <a:xfrm>
            <a:off x="8928100" y="2715220"/>
            <a:ext cx="1384300" cy="3098800"/>
          </a:xfrm>
          <a:prstGeom prst="roundRect">
            <a:avLst>
              <a:gd name="adj" fmla="val 11927"/>
            </a:avLst>
          </a:prstGeom>
        </p:spPr>
      </p:pic>
      <p:sp>
        <p:nvSpPr>
          <p:cNvPr id="16" name="Shape 10"/>
          <p:cNvSpPr/>
          <p:nvPr/>
        </p:nvSpPr>
        <p:spPr>
          <a:xfrm>
            <a:off x="8909050" y="2696170"/>
            <a:ext cx="1422400" cy="3136900"/>
          </a:xfrm>
          <a:prstGeom prst="roundRect">
            <a:avLst>
              <a:gd name="adj" fmla="val 12946"/>
            </a:avLst>
          </a:prstGeom>
          <a:noFill/>
          <a:ln w="38100">
            <a:solidFill>
              <a:srgbClr val="2B2B29"/>
            </a:solidFill>
            <a:prstDash val="solid"/>
          </a:ln>
        </p:spPr>
      </p:sp>
    </p:spTree>
  </p:cSld>
  <p:clrMapOvr>
    <a:masterClrMapping/>
  </p:clrMapOvr>
</p:sld>
</file>

<file path=ppt/theme/theme1.xml><?xml version="1.0" encoding="utf-8"?>
<a:theme xmlns:a="http://schemas.openxmlformats.org/drawingml/2006/main" name="Sonar Reps">
  <a:themeElements>
    <a:clrScheme name="Sonar Reps">
      <a:dk1>
        <a:srgbClr val="161615"/>
      </a:dk1>
      <a:lt1>
        <a:srgbClr val="EDECE8"/>
      </a:lt1>
      <a:dk2>
        <a:srgbClr val="2C2B2A"/>
      </a:dk2>
      <a:lt2>
        <a:srgbClr val="B7B7B3"/>
      </a:lt2>
      <a:accent1>
        <a:srgbClr val="8FA3F5"/>
      </a:accent1>
      <a:accent2>
        <a:srgbClr val="C9D2FF"/>
      </a:accent2>
      <a:accent3>
        <a:srgbClr val="EE6F63"/>
      </a:accent3>
      <a:accent4>
        <a:srgbClr val="2947C3"/>
      </a:accent4>
      <a:accent5>
        <a:srgbClr val="C33A2E"/>
      </a:accent5>
      <a:accent6>
        <a:srgbClr val="E2A93B"/>
      </a:accent6>
      <a:hlink>
        <a:srgbClr val="0563C1"/>
      </a:hlink>
      <a:folHlink>
        <a:srgbClr val="954F72"/>
      </a:folHlink>
    </a:clrScheme>
    <a:fontScheme name="Sonar Rep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Sonar Reps</dc:title>
  <dc:subject/>
  <dc:creator/>
  <cp:lastModifiedBy/>
  <cp:revision>1</cp:revision>
  <dcterms:created xsi:type="dcterms:W3CDTF">2026-10-10T15:08:46Z</dcterms:created>
  <dcterms:modified xsi:type="dcterms:W3CDTF">2026-10-10T15:08:46Z</dcterms:modified>
</cp:coreProperties>
</file>